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Default Extension="tif" ContentType="image/tif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7" r:id="rId2"/>
    <p:sldId id="290" r:id="rId3"/>
    <p:sldId id="293" r:id="rId4"/>
    <p:sldId id="292" r:id="rId5"/>
    <p:sldId id="291" r:id="rId6"/>
    <p:sldId id="263" r:id="rId7"/>
    <p:sldId id="267" r:id="rId8"/>
    <p:sldId id="288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65" r:id="rId17"/>
    <p:sldId id="276" r:id="rId18"/>
    <p:sldId id="277" r:id="rId19"/>
    <p:sldId id="278" r:id="rId20"/>
    <p:sldId id="279" r:id="rId21"/>
    <p:sldId id="289" r:id="rId22"/>
    <p:sldId id="280" r:id="rId23"/>
    <p:sldId id="281" r:id="rId24"/>
    <p:sldId id="266" r:id="rId25"/>
    <p:sldId id="284" r:id="rId26"/>
    <p:sldId id="283" r:id="rId27"/>
    <p:sldId id="286" r:id="rId28"/>
    <p:sldId id="287" r:id="rId29"/>
    <p:sldId id="285" r:id="rId30"/>
    <p:sldId id="294" r:id="rId31"/>
    <p:sldId id="295" r:id="rId32"/>
    <p:sldId id="296" r:id="rId33"/>
    <p:sldId id="297" r:id="rId34"/>
  </p:sldIdLst>
  <p:sldSz cx="9144000" cy="6858000" type="screen4x3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DC"/>
    <a:srgbClr val="E2EEEE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0053" autoAdjust="0"/>
  </p:normalViewPr>
  <p:slideViewPr>
    <p:cSldViewPr>
      <p:cViewPr varScale="1">
        <p:scale>
          <a:sx n="82" d="100"/>
          <a:sy n="82" d="100"/>
        </p:scale>
        <p:origin x="-1140" y="-84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248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2924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ROI_FORM\Torque_Sensor_T_L_Shaped\Aichi_Torque_Senso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PP-Ripple at 4 Deg</c:v>
          </c:tx>
          <c:invertIfNegative val="0"/>
          <c:cat>
            <c:strRef>
              <c:f>Summary!$F$17:$F$19</c:f>
              <c:strCache>
                <c:ptCount val="3"/>
                <c:pt idx="0">
                  <c:v>CP-Sintered magnet</c:v>
                </c:pt>
                <c:pt idx="1">
                  <c:v>Proposed-Sintered magnet</c:v>
                </c:pt>
                <c:pt idx="2">
                  <c:v>Proposed-Ring magnet</c:v>
                </c:pt>
              </c:strCache>
            </c:strRef>
          </c:cat>
          <c:val>
            <c:numRef>
              <c:f>Summary!$G$17:$G$19</c:f>
              <c:numCache>
                <c:formatCode>0.00</c:formatCode>
                <c:ptCount val="3"/>
                <c:pt idx="0">
                  <c:v>6.7391963227718037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776192"/>
        <c:axId val="115068928"/>
      </c:barChart>
      <c:catAx>
        <c:axId val="100776192"/>
        <c:scaling>
          <c:orientation val="minMax"/>
        </c:scaling>
        <c:delete val="0"/>
        <c:axPos val="b"/>
        <c:majorTickMark val="out"/>
        <c:minorTickMark val="none"/>
        <c:tickLblPos val="nextTo"/>
        <c:crossAx val="115068928"/>
        <c:crosses val="autoZero"/>
        <c:auto val="1"/>
        <c:lblAlgn val="ctr"/>
        <c:lblOffset val="100"/>
        <c:noMultiLvlLbl val="0"/>
      </c:catAx>
      <c:valAx>
        <c:axId val="115068928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crossAx val="1007761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794FCB22-DEB7-4111-BBAE-4550DBB776D2}" type="datetimeFigureOut">
              <a:rPr lang="en-US" smtClean="0"/>
              <a:t>2/25/2015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64853E45-8216-45D4-88F1-AFA95E4C3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2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ECC54F86-67D3-42C9-9911-8239CA10EEC5}" type="datetimeFigureOut">
              <a:rPr lang="en-US" smtClean="0"/>
              <a:t>2/25/2015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30D6A520-9300-4AB9-8BC6-5321F04499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75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6A520-9300-4AB9-8BC6-5321F04499E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553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989399-9D01-4588-90B0-E9E0BF0EC5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112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6A520-9300-4AB9-8BC6-5321F04499E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798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99133" y="4408807"/>
            <a:ext cx="5586734" cy="41789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0" name="Shape 110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124200"/>
            <a:ext cx="6477000" cy="875777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267200"/>
            <a:ext cx="8686800" cy="4572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76800" y="5791200"/>
            <a:ext cx="4191000" cy="381000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 smtClean="0"/>
              <a:t>Click to edit presenter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10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438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505200"/>
            <a:ext cx="7772400" cy="1362075"/>
          </a:xfrm>
        </p:spPr>
        <p:txBody>
          <a:bodyPr anchor="t"/>
          <a:lstStyle>
            <a:lvl1pPr algn="ctr">
              <a:defRPr sz="40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371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00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038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038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039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288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776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765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3657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2036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5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Click to edit Picture caption"/>
          <p:cNvSpPr>
            <a:spLocks noGrp="1"/>
          </p:cNvSpPr>
          <p:nvPr>
            <p:ph type="title" hasCustomPrompt="1"/>
          </p:nvPr>
        </p:nvSpPr>
        <p:spPr>
          <a:xfrm>
            <a:off x="1792288" y="3962400"/>
            <a:ext cx="5486400" cy="566738"/>
          </a:xfrm>
        </p:spPr>
        <p:txBody>
          <a:bodyPr anchor="b"/>
          <a:lstStyle>
            <a:lvl1pPr algn="l">
              <a:defRPr sz="2000" b="1" baseline="0"/>
            </a:lvl1pPr>
          </a:lstStyle>
          <a:p>
            <a:r>
              <a:rPr lang="en-US" dirty="0" smtClean="0"/>
              <a:t>Click to add image caption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349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529138"/>
            <a:ext cx="5486400" cy="1109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add a description of the image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373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lang="en-US" sz="24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07363" y="6608763"/>
            <a:ext cx="6858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53E5355-3F28-4DA7-A08E-9E176869AE0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267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95400" y="6719888"/>
            <a:ext cx="1219200" cy="1381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600" y="6719888"/>
            <a:ext cx="3352800" cy="1381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200" y="6719888"/>
            <a:ext cx="1371600" cy="1381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7D14AFD-0FA5-444D-BDEF-F7A99A59604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2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65000"/>
        <a:buFont typeface="Arial" pitchFamily="34" charset="0"/>
        <a:buChar char="►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1.xls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8600" y="3124200"/>
            <a:ext cx="6477000" cy="1371600"/>
          </a:xfrm>
        </p:spPr>
        <p:txBody>
          <a:bodyPr>
            <a:normAutofit/>
          </a:bodyPr>
          <a:lstStyle/>
          <a:p>
            <a:r>
              <a:rPr lang="en-US" dirty="0" smtClean="0"/>
              <a:t>Product Team Update</a:t>
            </a:r>
            <a:br>
              <a:rPr lang="en-US" dirty="0" smtClean="0"/>
            </a:br>
            <a:r>
              <a:rPr lang="en-US" dirty="0" smtClean="0"/>
              <a:t>Technology Roadmap</a:t>
            </a:r>
            <a:r>
              <a:rPr lang="en-US" dirty="0"/>
              <a:t> </a:t>
            </a:r>
            <a:r>
              <a:rPr lang="en-US" dirty="0" smtClean="0"/>
              <a:t>(26FE15)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70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9604" y="255173"/>
            <a:ext cx="8229600" cy="67983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dirty="0" smtClean="0"/>
              <a:t>Technology Roadmap Process Enhancements</a:t>
            </a: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329979" y="1067536"/>
            <a:ext cx="8229600" cy="51868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Restructured </a:t>
            </a:r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dirty="0" smtClean="0">
                <a:solidFill>
                  <a:schemeClr val="tx1"/>
                </a:solidFill>
              </a:rPr>
              <a:t>Tech Roadmap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/>
              <a:t>Manage project data and progress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/>
              <a:t>Manage </a:t>
            </a:r>
            <a:r>
              <a:rPr lang="en-US" sz="1600" dirty="0"/>
              <a:t>and assess risk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/>
              <a:t>Improve user interface to more </a:t>
            </a:r>
            <a:r>
              <a:rPr lang="en-US" sz="1600" dirty="0" smtClean="0"/>
              <a:t>efficiently</a:t>
            </a:r>
          </a:p>
          <a:p>
            <a:pPr lvl="1"/>
            <a:endParaRPr lang="en-US" sz="1600" dirty="0"/>
          </a:p>
          <a:p>
            <a:pPr marL="285750" indent="-28575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Incorporate Milestone </a:t>
            </a:r>
            <a:r>
              <a:rPr lang="en-US" sz="2400" dirty="0" smtClean="0">
                <a:solidFill>
                  <a:schemeClr val="tx1"/>
                </a:solidFill>
              </a:rPr>
              <a:t>Management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/>
              <a:t>P</a:t>
            </a:r>
            <a:r>
              <a:rPr lang="en-US" sz="1600" dirty="0" smtClean="0">
                <a:solidFill>
                  <a:schemeClr val="tx1"/>
                </a:solidFill>
              </a:rPr>
              <a:t>rovide </a:t>
            </a:r>
            <a:r>
              <a:rPr lang="en-US" sz="1600" dirty="0">
                <a:solidFill>
                  <a:schemeClr val="tx1"/>
                </a:solidFill>
              </a:rPr>
              <a:t>initiative status </a:t>
            </a:r>
            <a:r>
              <a:rPr lang="en-US" sz="1600" dirty="0" smtClean="0">
                <a:solidFill>
                  <a:schemeClr val="tx1"/>
                </a:solidFill>
              </a:rPr>
              <a:t>visibility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/>
              <a:t>Facilitate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advanced planning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Improve Tech Roadmap Visibility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/>
              <a:t>Look Across/Current Engineering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/>
              <a:t>Leverage Tech Roadmap initiatives with CIP bundling opportunities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/>
              <a:t>CIP linkage and review with Application teams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07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/>
          <p:cNvCxnSpPr/>
          <p:nvPr/>
        </p:nvCxnSpPr>
        <p:spPr>
          <a:xfrm flipH="1">
            <a:off x="8181937" y="1900583"/>
            <a:ext cx="1213" cy="4261865"/>
          </a:xfrm>
          <a:prstGeom prst="line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H="1">
            <a:off x="3720070" y="1890830"/>
            <a:ext cx="1213" cy="4261865"/>
          </a:xfrm>
          <a:prstGeom prst="line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>
            <a:off x="4799888" y="1883735"/>
            <a:ext cx="20133" cy="4297321"/>
          </a:xfrm>
          <a:prstGeom prst="line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H="1">
            <a:off x="5938810" y="1897906"/>
            <a:ext cx="1213" cy="4261865"/>
          </a:xfrm>
          <a:prstGeom prst="line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7037547" y="1912077"/>
            <a:ext cx="1213" cy="4261865"/>
          </a:xfrm>
          <a:prstGeom prst="line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>
            <a:off x="2653232" y="1897925"/>
            <a:ext cx="1213" cy="4261865"/>
          </a:xfrm>
          <a:prstGeom prst="line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98210" y="1076260"/>
            <a:ext cx="978794" cy="156695"/>
          </a:xfrm>
          <a:prstGeom prst="rect">
            <a:avLst/>
          </a:prstGeom>
          <a:gradFill flip="none" rotWithShape="1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3185664" y="1075719"/>
            <a:ext cx="1012064" cy="163512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accent2">
                  <a:lumMod val="7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0" name="TextBox 9"/>
          <p:cNvSpPr txBox="1"/>
          <p:nvPr/>
        </p:nvSpPr>
        <p:spPr>
          <a:xfrm>
            <a:off x="1770189" y="883524"/>
            <a:ext cx="17515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Milestone 1</a:t>
            </a:r>
            <a:endParaRPr lang="en-US" sz="1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01995" y="889264"/>
            <a:ext cx="1571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Milestone 0</a:t>
            </a:r>
            <a:endParaRPr lang="en-US" sz="1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197252" y="878631"/>
            <a:ext cx="1000476" cy="246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Milestone 2</a:t>
            </a:r>
            <a:endParaRPr lang="en-US" sz="1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013296" y="889676"/>
            <a:ext cx="1532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Milestone 3</a:t>
            </a:r>
            <a:endParaRPr lang="en-US" sz="1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090695" y="888519"/>
            <a:ext cx="16613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Milestone 4</a:t>
            </a:r>
            <a:endParaRPr lang="en-US" sz="1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229413" y="889676"/>
            <a:ext cx="16484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Milestone 5</a:t>
            </a:r>
            <a:endParaRPr lang="en-US" sz="1000" b="1" dirty="0"/>
          </a:p>
        </p:txBody>
      </p:sp>
      <p:sp>
        <p:nvSpPr>
          <p:cNvPr id="17" name="Rectangle 16"/>
          <p:cNvSpPr/>
          <p:nvPr/>
        </p:nvSpPr>
        <p:spPr>
          <a:xfrm>
            <a:off x="2142470" y="1075719"/>
            <a:ext cx="978794" cy="156695"/>
          </a:xfrm>
          <a:prstGeom prst="rect">
            <a:avLst/>
          </a:prstGeom>
          <a:gradFill flip="none" rotWithShape="1">
            <a:gsLst>
              <a:gs pos="100000">
                <a:srgbClr val="FFFF00"/>
              </a:gs>
              <a:gs pos="25400">
                <a:srgbClr val="FF6600"/>
              </a:gs>
              <a:gs pos="0">
                <a:srgbClr val="FF0000"/>
              </a:gs>
              <a:gs pos="100000">
                <a:srgbClr val="000082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4303071" y="1082536"/>
            <a:ext cx="978794" cy="15669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9" name="Rectangle 18"/>
          <p:cNvSpPr/>
          <p:nvPr/>
        </p:nvSpPr>
        <p:spPr>
          <a:xfrm>
            <a:off x="5444864" y="1070977"/>
            <a:ext cx="978794" cy="15669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20" name="Rectangle 19"/>
          <p:cNvSpPr/>
          <p:nvPr/>
        </p:nvSpPr>
        <p:spPr>
          <a:xfrm>
            <a:off x="6564264" y="1082536"/>
            <a:ext cx="978794" cy="15669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rgbClr val="00B050"/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21" name="Rounded Rectangle 20"/>
          <p:cNvSpPr/>
          <p:nvPr/>
        </p:nvSpPr>
        <p:spPr>
          <a:xfrm rot="16200000">
            <a:off x="124661" y="1371011"/>
            <a:ext cx="1102343" cy="5022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Process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154272" y="1360212"/>
            <a:ext cx="978794" cy="5022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Proof of Concept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18934" y="1360212"/>
            <a:ext cx="978794" cy="5022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DEV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38555" y="1360212"/>
            <a:ext cx="1017431" cy="5022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PV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90416" y="1360212"/>
            <a:ext cx="978794" cy="5022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Production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684450" y="1374382"/>
            <a:ext cx="978794" cy="48810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Review w/ Product Team</a:t>
            </a:r>
          </a:p>
        </p:txBody>
      </p:sp>
      <p:sp>
        <p:nvSpPr>
          <p:cNvPr id="29" name="Rounded Rectangle 28"/>
          <p:cNvSpPr/>
          <p:nvPr/>
        </p:nvSpPr>
        <p:spPr>
          <a:xfrm rot="16200000">
            <a:off x="217479" y="5337701"/>
            <a:ext cx="941594" cy="5022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Risk Assessment</a:t>
            </a:r>
            <a:endParaRPr lang="en-US" sz="900" b="1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1586394" y="1883754"/>
            <a:ext cx="1213" cy="4261865"/>
          </a:xfrm>
          <a:prstGeom prst="line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102796" y="3976385"/>
            <a:ext cx="981304" cy="45421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Big Bang Initiatives</a:t>
            </a: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Davis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 rot="16200000">
            <a:off x="186900" y="4204001"/>
            <a:ext cx="978773" cy="5022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Supporting Activities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 rot="16200000">
            <a:off x="-48784" y="2831466"/>
            <a:ext cx="1449236" cy="5022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Staff Linkage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096997" y="1369737"/>
            <a:ext cx="978794" cy="5022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New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0" name="Title 1"/>
          <p:cNvSpPr>
            <a:spLocks noGrp="1"/>
          </p:cNvSpPr>
          <p:nvPr>
            <p:ph type="title"/>
          </p:nvPr>
        </p:nvSpPr>
        <p:spPr>
          <a:xfrm>
            <a:off x="0" y="2496"/>
            <a:ext cx="8229600" cy="7689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 smtClean="0"/>
              <a:t>Technology Roadmap Process</a:t>
            </a: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>
            <a:off x="1111168" y="2387645"/>
            <a:ext cx="3086560" cy="3079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Future</a:t>
            </a: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Zurask</a:t>
            </a:r>
            <a:r>
              <a:rPr lang="en-US" sz="900" dirty="0" smtClean="0">
                <a:solidFill>
                  <a:schemeClr val="tx1"/>
                </a:solidFill>
              </a:rPr>
              <a:t>i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3234597" y="2771688"/>
            <a:ext cx="2210267" cy="3079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Core</a:t>
            </a: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Haller, Sizelove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5438555" y="3526576"/>
            <a:ext cx="3248441" cy="3079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Current / CIP</a:t>
            </a: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Burns, Davis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1095701" y="4500940"/>
            <a:ext cx="981304" cy="45421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Brush CIP Workshops</a:t>
            </a: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Huang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644927" y="5149941"/>
            <a:ext cx="3786551" cy="23562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Red = Date Delayed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659098" y="5440570"/>
            <a:ext cx="3786551" cy="23562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Yellow = Date at Risk</a:t>
            </a:r>
          </a:p>
        </p:txBody>
      </p:sp>
      <p:sp>
        <p:nvSpPr>
          <p:cNvPr id="8" name="Rounded Rectangle 7"/>
          <p:cNvSpPr/>
          <p:nvPr/>
        </p:nvSpPr>
        <p:spPr>
          <a:xfrm flipH="1">
            <a:off x="3738844" y="5239590"/>
            <a:ext cx="131265" cy="58907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ounded Rectangle 84"/>
          <p:cNvSpPr/>
          <p:nvPr/>
        </p:nvSpPr>
        <p:spPr>
          <a:xfrm flipH="1">
            <a:off x="3729742" y="5521593"/>
            <a:ext cx="131265" cy="58907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ounded Rectangle 85"/>
          <p:cNvSpPr/>
          <p:nvPr/>
        </p:nvSpPr>
        <p:spPr>
          <a:xfrm>
            <a:off x="2662636" y="5752465"/>
            <a:ext cx="3786551" cy="23562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Green = Date on Track</a:t>
            </a:r>
          </a:p>
        </p:txBody>
      </p:sp>
      <p:sp>
        <p:nvSpPr>
          <p:cNvPr id="87" name="Rounded Rectangle 86"/>
          <p:cNvSpPr/>
          <p:nvPr/>
        </p:nvSpPr>
        <p:spPr>
          <a:xfrm flipH="1">
            <a:off x="3733280" y="5833488"/>
            <a:ext cx="131265" cy="58907"/>
          </a:xfrm>
          <a:prstGeom prst="roundRect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744832" y="1949451"/>
            <a:ext cx="89321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 smtClean="0"/>
              <a:t>No longer tracked by Tech Roadmap</a:t>
            </a:r>
            <a:endParaRPr lang="en-US" sz="600" i="1" dirty="0"/>
          </a:p>
        </p:txBody>
      </p:sp>
      <p:sp>
        <p:nvSpPr>
          <p:cNvPr id="88" name="TextBox 87"/>
          <p:cNvSpPr txBox="1"/>
          <p:nvPr/>
        </p:nvSpPr>
        <p:spPr>
          <a:xfrm>
            <a:off x="6603941" y="1988655"/>
            <a:ext cx="893211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 smtClean="0"/>
              <a:t>In a Program at SOP</a:t>
            </a:r>
            <a:endParaRPr lang="en-US" sz="600" i="1" dirty="0"/>
          </a:p>
        </p:txBody>
      </p:sp>
      <p:sp>
        <p:nvSpPr>
          <p:cNvPr id="89" name="TextBox 88"/>
          <p:cNvSpPr txBox="1"/>
          <p:nvPr/>
        </p:nvSpPr>
        <p:spPr>
          <a:xfrm>
            <a:off x="5501647" y="1928395"/>
            <a:ext cx="89321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 smtClean="0"/>
              <a:t>Ready to Use – </a:t>
            </a:r>
          </a:p>
          <a:p>
            <a:pPr algn="ctr"/>
            <a:r>
              <a:rPr lang="en-US" sz="600" i="1" dirty="0" smtClean="0"/>
              <a:t>On the Shelf</a:t>
            </a:r>
            <a:endParaRPr lang="en-US" sz="600" i="1" dirty="0"/>
          </a:p>
        </p:txBody>
      </p:sp>
      <p:sp>
        <p:nvSpPr>
          <p:cNvPr id="90" name="TextBox 89"/>
          <p:cNvSpPr txBox="1"/>
          <p:nvPr/>
        </p:nvSpPr>
        <p:spPr>
          <a:xfrm>
            <a:off x="3272255" y="1931933"/>
            <a:ext cx="89321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 smtClean="0"/>
              <a:t>Ready for Project Transfer</a:t>
            </a:r>
            <a:endParaRPr lang="en-US" sz="600" i="1" dirty="0"/>
          </a:p>
        </p:txBody>
      </p:sp>
      <p:sp>
        <p:nvSpPr>
          <p:cNvPr id="91" name="TextBox 90"/>
          <p:cNvSpPr txBox="1"/>
          <p:nvPr/>
        </p:nvSpPr>
        <p:spPr>
          <a:xfrm>
            <a:off x="2212493" y="1924838"/>
            <a:ext cx="89321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 smtClean="0"/>
              <a:t>Product Team Review &amp; Approval</a:t>
            </a:r>
            <a:endParaRPr lang="en-US" sz="600" i="1" dirty="0"/>
          </a:p>
        </p:txBody>
      </p:sp>
      <p:sp>
        <p:nvSpPr>
          <p:cNvPr id="92" name="TextBox 91"/>
          <p:cNvSpPr txBox="1"/>
          <p:nvPr/>
        </p:nvSpPr>
        <p:spPr>
          <a:xfrm>
            <a:off x="1142098" y="1970908"/>
            <a:ext cx="893211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 smtClean="0"/>
              <a:t>Concept</a:t>
            </a:r>
            <a:endParaRPr lang="en-US" sz="600" i="1" dirty="0"/>
          </a:p>
        </p:txBody>
      </p:sp>
      <p:sp>
        <p:nvSpPr>
          <p:cNvPr id="99" name="Rounded Rectangle 98"/>
          <p:cNvSpPr/>
          <p:nvPr/>
        </p:nvSpPr>
        <p:spPr>
          <a:xfrm>
            <a:off x="1111168" y="6262577"/>
            <a:ext cx="6431890" cy="2605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1" dirty="0" smtClean="0">
                <a:solidFill>
                  <a:schemeClr val="tx1"/>
                </a:solidFill>
              </a:rPr>
              <a:t>Weekly Meetings to Review Status</a:t>
            </a:r>
            <a:endParaRPr lang="en-US" sz="1000" i="1" dirty="0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314995" y="1374383"/>
            <a:ext cx="1017431" cy="5022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DV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378087" y="1931933"/>
            <a:ext cx="89321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 smtClean="0"/>
              <a:t>Validation in Process</a:t>
            </a:r>
            <a:endParaRPr lang="en-US" sz="600" i="1" dirty="0"/>
          </a:p>
        </p:txBody>
      </p:sp>
      <p:sp>
        <p:nvSpPr>
          <p:cNvPr id="55" name="Rectangle 54"/>
          <p:cNvSpPr/>
          <p:nvPr/>
        </p:nvSpPr>
        <p:spPr>
          <a:xfrm>
            <a:off x="7665524" y="1088294"/>
            <a:ext cx="978794" cy="156695"/>
          </a:xfrm>
          <a:prstGeom prst="rect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58" name="TextBox 57"/>
          <p:cNvSpPr txBox="1"/>
          <p:nvPr/>
        </p:nvSpPr>
        <p:spPr>
          <a:xfrm>
            <a:off x="7339299" y="886808"/>
            <a:ext cx="16484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Closed</a:t>
            </a:r>
            <a:endParaRPr lang="en-US" sz="1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417614" y="4166013"/>
            <a:ext cx="1688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Note:  Initiatives may go into Tech Roadmap if further development is required or directly to ECR/CR/CRB</a:t>
            </a:r>
            <a:endParaRPr lang="en-US" sz="900" dirty="0"/>
          </a:p>
        </p:txBody>
      </p:sp>
      <p:sp>
        <p:nvSpPr>
          <p:cNvPr id="7" name="Right Arrow 6"/>
          <p:cNvSpPr/>
          <p:nvPr/>
        </p:nvSpPr>
        <p:spPr>
          <a:xfrm>
            <a:off x="2147133" y="4216852"/>
            <a:ext cx="296213" cy="52455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ounded Rectangle 79"/>
          <p:cNvSpPr/>
          <p:nvPr/>
        </p:nvSpPr>
        <p:spPr>
          <a:xfrm>
            <a:off x="4809954" y="3979923"/>
            <a:ext cx="3883195" cy="96343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CIP Advanced Planning Roadmap/Overlay </a:t>
            </a: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Linkage to Program Timing, Bundled Validation Windows</a:t>
            </a:r>
            <a:endParaRPr lang="en-US" sz="900" i="1" dirty="0">
              <a:solidFill>
                <a:schemeClr val="tx1"/>
              </a:solidFill>
            </a:endParaRP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and  Target SOP Windows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501647" y="2787608"/>
            <a:ext cx="944003" cy="29202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Core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smtClean="0">
                <a:solidFill>
                  <a:schemeClr val="tx1"/>
                </a:solidFill>
              </a:rPr>
              <a:t>– CAT 1</a:t>
            </a:r>
            <a:endParaRPr lang="en-US" sz="900" b="1" dirty="0" smtClean="0">
              <a:solidFill>
                <a:schemeClr val="tx1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348987" y="3160352"/>
            <a:ext cx="3248441" cy="3079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Application</a:t>
            </a:r>
          </a:p>
          <a:p>
            <a:pPr algn="ctr"/>
            <a:r>
              <a:rPr lang="en-US" sz="900" i="1" dirty="0" smtClean="0">
                <a:solidFill>
                  <a:schemeClr val="tx1"/>
                </a:solidFill>
              </a:rPr>
              <a:t>Singh</a:t>
            </a:r>
            <a:endParaRPr 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69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Motive Ranking Visibility and Discipline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62" y="1371600"/>
            <a:ext cx="6425638" cy="4576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800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Programs by Year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 smtClean="0"/>
              <a:t>GEOFF’S CHART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2000"/>
            <a:ext cx="7696200" cy="5524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892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Torque Sensor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6781800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FE</a:t>
            </a:r>
            <a:r>
              <a:rPr lang="en-US" sz="2800" b="1" dirty="0">
                <a:solidFill>
                  <a:srgbClr val="C00000"/>
                </a:solidFill>
              </a:rPr>
              <a:t>142</a:t>
            </a:r>
            <a:r>
              <a:rPr lang="en-US" sz="2800" b="1" i="0" u="none" strike="noStrike" cap="none" baseline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 LOW </a:t>
            </a:r>
            <a:r>
              <a:rPr lang="en-US" sz="2800" b="1" dirty="0">
                <a:solidFill>
                  <a:srgbClr val="C00000"/>
                </a:solidFill>
              </a:rPr>
              <a:t>COST</a:t>
            </a:r>
            <a:r>
              <a:rPr lang="en-US" sz="2800" b="1" i="0" u="none" strike="noStrike" cap="none" baseline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SMALL DIAMETER </a:t>
            </a:r>
            <a:r>
              <a:rPr lang="en-US" sz="2800" b="1" dirty="0">
                <a:solidFill>
                  <a:srgbClr val="C00000"/>
                </a:solidFill>
              </a:rPr>
              <a:t>TORQUE SENSOR</a:t>
            </a:r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001000" cy="472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800" dirty="0">
                <a:solidFill>
                  <a:schemeClr val="dk1"/>
                </a:solidFill>
              </a:rPr>
              <a:t>Develop torque sensor for EPS application</a:t>
            </a:r>
          </a:p>
          <a:p>
            <a:pPr marL="231775" marR="0" lvl="0" indent="-231775" algn="l" rtl="0">
              <a:spcBef>
                <a:spcPts val="48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</a:t>
            </a:r>
          </a:p>
          <a:p>
            <a:pPr lvl="1" indent="-228600">
              <a:spcBef>
                <a:spcPts val="360"/>
              </a:spcBef>
              <a:buSzPct val="96428"/>
              <a:buFont typeface="Arial"/>
              <a:buChar char="−"/>
            </a:pPr>
            <a:r>
              <a:rPr lang="en-US" b="1" dirty="0"/>
              <a:t>To reduce outer diameter of torque sensor</a:t>
            </a:r>
          </a:p>
          <a:p>
            <a:pPr lvl="1" indent="-228600">
              <a:spcBef>
                <a:spcPts val="360"/>
              </a:spcBef>
              <a:buSzPct val="96428"/>
              <a:buFont typeface="Arial"/>
              <a:buChar char="−"/>
            </a:pPr>
            <a:r>
              <a:rPr lang="en-US" b="1" dirty="0"/>
              <a:t>To reduce cost of torque sensor</a:t>
            </a:r>
          </a:p>
          <a:p>
            <a:pPr lvl="1" indent="-228600">
              <a:spcBef>
                <a:spcPts val="360"/>
              </a:spcBef>
              <a:buSzPct val="96428"/>
              <a:buFont typeface="Arial"/>
              <a:buChar char="−"/>
            </a:pPr>
            <a:r>
              <a:rPr lang="en-US" dirty="0"/>
              <a:t>To improve gain of the linear region of operation </a:t>
            </a:r>
          </a:p>
          <a:p>
            <a:pPr lvl="1" indent="-228600">
              <a:spcBef>
                <a:spcPts val="360"/>
              </a:spcBef>
              <a:buSzPct val="96428"/>
              <a:buFont typeface="Arial"/>
              <a:buChar char="−"/>
            </a:pPr>
            <a:r>
              <a:rPr lang="en-US" dirty="0"/>
              <a:t>To improve rotational accuracy of the </a:t>
            </a:r>
            <a:r>
              <a:rPr lang="en-US" dirty="0" smtClean="0"/>
              <a:t>sensor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165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04" y="700301"/>
            <a:ext cx="6824275" cy="4048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57700" y="5079981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Lower rotor disk 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33600" y="5018425"/>
            <a:ext cx="1368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Lower rotor</a:t>
            </a:r>
          </a:p>
          <a:p>
            <a:r>
              <a:rPr lang="en-US" dirty="0" smtClean="0"/>
              <a:t>Disk 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553200" y="4926093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Upper rotor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27439" y="405829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Plastic</a:t>
            </a:r>
            <a:endParaRPr lang="en-US" dirty="0"/>
          </a:p>
        </p:txBody>
      </p:sp>
      <p:cxnSp>
        <p:nvCxnSpPr>
          <p:cNvPr id="10" name="Straight Arrow Connector 9"/>
          <p:cNvCxnSpPr>
            <a:stCxn id="9" idx="3"/>
          </p:cNvCxnSpPr>
          <p:nvPr/>
        </p:nvCxnSpPr>
        <p:spPr>
          <a:xfrm flipV="1">
            <a:off x="2818039" y="3733802"/>
            <a:ext cx="1416505" cy="50916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0"/>
          </p:cNvCxnSpPr>
          <p:nvPr/>
        </p:nvCxnSpPr>
        <p:spPr>
          <a:xfrm flipV="1">
            <a:off x="2818040" y="3970336"/>
            <a:ext cx="1830160" cy="10480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0"/>
          </p:cNvCxnSpPr>
          <p:nvPr/>
        </p:nvCxnSpPr>
        <p:spPr>
          <a:xfrm flipH="1" flipV="1">
            <a:off x="4872425" y="3970336"/>
            <a:ext cx="290125" cy="1109645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5105400" y="3733802"/>
            <a:ext cx="1905000" cy="121919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07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>
                <a:solidFill>
                  <a:srgbClr val="C00000"/>
                </a:solidFill>
              </a:rPr>
              <a:t>FE142: LOW COST SMALL DIAMETER TORQUE SENSOR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60602" y="1968650"/>
            <a:ext cx="8822185" cy="4185979"/>
            <a:chOff x="76200" y="3287047"/>
            <a:chExt cx="8822185" cy="41859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" y="3352800"/>
              <a:ext cx="2538457" cy="2312665"/>
            </a:xfrm>
            <a:prstGeom prst="rect">
              <a:avLst/>
            </a:prstGeom>
          </p:spPr>
        </p:pic>
        <p:grpSp>
          <p:nvGrpSpPr>
            <p:cNvPr id="12" name="Group 11"/>
            <p:cNvGrpSpPr/>
            <p:nvPr/>
          </p:nvGrpSpPr>
          <p:grpSpPr>
            <a:xfrm>
              <a:off x="1775539" y="3287047"/>
              <a:ext cx="7122846" cy="4185979"/>
              <a:chOff x="1910141" y="2603525"/>
              <a:chExt cx="7122846" cy="4185979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19941" y="2603525"/>
                <a:ext cx="2778553" cy="2023010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10141" y="5188763"/>
                <a:ext cx="2545778" cy="1600741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/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3407" y="3825610"/>
                <a:ext cx="2989580" cy="813435"/>
              </a:xfrm>
              <a:prstGeom prst="rect">
                <a:avLst/>
              </a:prstGeom>
            </p:spPr>
          </p:pic>
          <p:cxnSp>
            <p:nvCxnSpPr>
              <p:cNvPr id="16" name="Straight Arrow Connector 15"/>
              <p:cNvCxnSpPr>
                <a:endCxn id="13" idx="1"/>
              </p:cNvCxnSpPr>
              <p:nvPr/>
            </p:nvCxnSpPr>
            <p:spPr>
              <a:xfrm>
                <a:off x="2749259" y="3615030"/>
                <a:ext cx="1370682" cy="0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2864579" y="4272595"/>
                <a:ext cx="248350" cy="99879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 Placeholder 2"/>
          <p:cNvSpPr>
            <a:spLocks noGrp="1"/>
          </p:cNvSpPr>
          <p:nvPr>
            <p:ph type="body" sz="half" idx="11"/>
          </p:nvPr>
        </p:nvSpPr>
        <p:spPr>
          <a:xfrm>
            <a:off x="266602" y="1130588"/>
            <a:ext cx="8229600" cy="441960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Upper rotor with axially magnetized magnets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Lower rotor placed axially on one side of the upper rotor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258" y="4580334"/>
            <a:ext cx="2352142" cy="149722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3330855" y="4143101"/>
            <a:ext cx="5751932" cy="40426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92939" y="3048000"/>
            <a:ext cx="1447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solidFill>
                  <a:srgbClr val="000000"/>
                </a:solidFill>
              </a:rPr>
              <a:t>A. Lower rotor</a:t>
            </a:r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447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B</a:t>
            </a:r>
            <a:r>
              <a:rPr lang="en-US" sz="1300" dirty="0" smtClean="0">
                <a:solidFill>
                  <a:srgbClr val="000000"/>
                </a:solidFill>
              </a:rPr>
              <a:t>. </a:t>
            </a:r>
            <a:r>
              <a:rPr lang="en-US" sz="1300" dirty="0" smtClean="0"/>
              <a:t>Upper</a:t>
            </a:r>
            <a:r>
              <a:rPr lang="en-US" sz="1300" dirty="0" smtClean="0">
                <a:solidFill>
                  <a:srgbClr val="000000"/>
                </a:solidFill>
              </a:rPr>
              <a:t> rotor</a:t>
            </a:r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44756" y="5317480"/>
            <a:ext cx="39450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smtClean="0"/>
              <a:t>or</a:t>
            </a:r>
            <a:endParaRPr lang="en-US" sz="13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74597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s.png"/>
          <p:cNvPicPr>
            <a:picLocks noChangeAspect="1"/>
          </p:cNvPicPr>
          <p:nvPr/>
        </p:nvPicPr>
        <p:blipFill>
          <a:blip r:embed="rId3" cstate="print"/>
          <a:srcRect l="21000" t="13750" r="19926" b="13750"/>
          <a:stretch>
            <a:fillRect/>
          </a:stretch>
        </p:blipFill>
        <p:spPr>
          <a:xfrm>
            <a:off x="2824663" y="1143000"/>
            <a:ext cx="3469864" cy="3406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94617" y="5029200"/>
            <a:ext cx="4554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Current production IPM type torque sensor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34995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>
                <a:solidFill>
                  <a:srgbClr val="C00000"/>
                </a:solidFill>
              </a:rPr>
              <a:t>FE142: LOW COST SMALL DIAMETER TORQUE SENSOR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10096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l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l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l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2200" dirty="0" smtClean="0"/>
              <a:t>Results</a:t>
            </a:r>
            <a:br>
              <a:rPr lang="en-US" sz="2200" dirty="0" smtClean="0"/>
            </a:br>
            <a:endParaRPr lang="en-US" sz="2200" i="1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half" idx="11"/>
          </p:nvPr>
        </p:nvSpPr>
        <p:spPr>
          <a:xfrm>
            <a:off x="429109" y="1447800"/>
            <a:ext cx="8229600" cy="441960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 Gain and Linearity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38600"/>
            <a:ext cx="5135490" cy="2314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862510" y="2842828"/>
            <a:ext cx="18768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Higher gain achieved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6409123" y="2991632"/>
            <a:ext cx="37269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81821" y="5212446"/>
            <a:ext cx="18768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Good linearity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6328434" y="5361250"/>
            <a:ext cx="37269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943" y="1749923"/>
            <a:ext cx="5206362" cy="2288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385674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>
                <a:solidFill>
                  <a:srgbClr val="C00000"/>
                </a:solidFill>
              </a:rPr>
              <a:t>FE142: LOW COST SMALL DIAMETER TORQUE SENSOR</a:t>
            </a:r>
          </a:p>
        </p:txBody>
      </p:sp>
      <p:sp>
        <p:nvSpPr>
          <p:cNvPr id="45" name="Title 1"/>
          <p:cNvSpPr txBox="1">
            <a:spLocks/>
          </p:cNvSpPr>
          <p:nvPr/>
        </p:nvSpPr>
        <p:spPr>
          <a:xfrm>
            <a:off x="0" y="990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l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l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l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2200" dirty="0" smtClean="0"/>
              <a:t>Results</a:t>
            </a:r>
            <a:br>
              <a:rPr lang="en-US" sz="2200" dirty="0" smtClean="0"/>
            </a:br>
            <a:endParaRPr lang="en-US" sz="2200" i="1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half" idx="11"/>
          </p:nvPr>
        </p:nvSpPr>
        <p:spPr>
          <a:xfrm>
            <a:off x="466725" y="1447800"/>
            <a:ext cx="8229600" cy="441960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Comparison with Prior Art Designs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54931"/>
              </p:ext>
            </p:extLst>
          </p:nvPr>
        </p:nvGraphicFramePr>
        <p:xfrm>
          <a:off x="3447207" y="5105400"/>
          <a:ext cx="4604385" cy="771144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371600"/>
                <a:gridCol w="1445260"/>
                <a:gridCol w="1787525"/>
              </a:tblGrid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Parameter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cap="small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Production design</a:t>
                      </a:r>
                      <a:endParaRPr lang="en-US" sz="1100" cap="small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Proposed design</a:t>
                      </a:r>
                      <a:endParaRPr lang="en-US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 magnet volume</a:t>
                      </a:r>
                      <a:endParaRPr lang="en-US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1305 mm</a:t>
                      </a:r>
                      <a:r>
                        <a:rPr lang="en-US" sz="1100" baseline="300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  <a:endParaRPr lang="en-US" sz="1100" baseline="30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Reduction by at least 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20% (for sintered magnet design)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Outermost diameter</a:t>
                      </a:r>
                      <a:endParaRPr lang="en-US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51.88 mm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Reduction by at least 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4mm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512621" y="5354652"/>
            <a:ext cx="188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Magnet volume reduction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12621" y="5585210"/>
            <a:ext cx="1889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Outer diameter reduction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3"/>
          </p:cNvCxnSpPr>
          <p:nvPr/>
        </p:nvCxnSpPr>
        <p:spPr>
          <a:xfrm>
            <a:off x="3155894" y="5485457"/>
            <a:ext cx="246457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162638" y="5694501"/>
            <a:ext cx="246457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015381" y="3844074"/>
            <a:ext cx="1131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Ripple reduction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3146953" y="3974879"/>
            <a:ext cx="246457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47207" y="2463213"/>
            <a:ext cx="384721" cy="173637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300" dirty="0" smtClean="0"/>
              <a:t>Flux density [Gauss]</a:t>
            </a:r>
            <a:endParaRPr lang="en-US" sz="1300" dirty="0"/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084168"/>
              </p:ext>
            </p:extLst>
          </p:nvPr>
        </p:nvGraphicFramePr>
        <p:xfrm>
          <a:off x="3815599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87245925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>
                <a:solidFill>
                  <a:srgbClr val="C00000"/>
                </a:solidFill>
              </a:rPr>
              <a:t>FE142: LOW COST SMALL DIAMETER TORQUE SENSOR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76200" y="1066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l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l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l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1800" dirty="0" smtClean="0"/>
              <a:t>A. Lower rotor – manufacturing challenges</a:t>
            </a:r>
            <a:endParaRPr lang="en-US" sz="1800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267200" y="2057400"/>
            <a:ext cx="0" cy="4114800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" y="2131147"/>
            <a:ext cx="3048000" cy="267998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000500" y="3581400"/>
            <a:ext cx="533400" cy="135147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108287"/>
            <a:ext cx="2965979" cy="26515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67600" y="1972766"/>
            <a:ext cx="152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Introduction of notches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534150" y="2202180"/>
            <a:ext cx="685800" cy="304800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972300" y="2209800"/>
            <a:ext cx="342900" cy="518255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92036" y="5181600"/>
            <a:ext cx="220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Disk thickness =1.5mm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4000500" y="5259064"/>
            <a:ext cx="533400" cy="135147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181600" y="5181600"/>
            <a:ext cx="3048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Disk thickness =0.65 mm for silicon steel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979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>
                <a:solidFill>
                  <a:srgbClr val="C00000"/>
                </a:solidFill>
              </a:rPr>
              <a:t>FE142: LOW COST SMALL DIAMETER TORQUE SENSOR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76200" y="1066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l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l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l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1800" dirty="0" smtClean="0"/>
              <a:t>B. Upper rotor – manufacturing challenges</a:t>
            </a:r>
            <a:endParaRPr lang="en-US" sz="1800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267200" y="1849376"/>
            <a:ext cx="0" cy="2875024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Arrow 5"/>
          <p:cNvSpPr/>
          <p:nvPr/>
        </p:nvSpPr>
        <p:spPr>
          <a:xfrm>
            <a:off x="4000500" y="2781029"/>
            <a:ext cx="533400" cy="135147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80659"/>
            <a:ext cx="2667000" cy="167696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075923"/>
            <a:ext cx="2504542" cy="159423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600200" y="5177683"/>
            <a:ext cx="220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(Sintered magnet design)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81600" y="5177683"/>
            <a:ext cx="220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(Ring magnet design)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half" idx="11"/>
          </p:nvPr>
        </p:nvSpPr>
        <p:spPr>
          <a:xfrm>
            <a:off x="1354395" y="3886200"/>
            <a:ext cx="2989005" cy="45720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High residual flux density of magnet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Magnet expensive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half" idx="11"/>
          </p:nvPr>
        </p:nvSpPr>
        <p:spPr>
          <a:xfrm>
            <a:off x="4648200" y="3886200"/>
            <a:ext cx="3374620" cy="45720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Low residual flux density of magnet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Less expensive magnet</a:t>
            </a:r>
          </a:p>
        </p:txBody>
      </p:sp>
    </p:spTree>
    <p:extLst>
      <p:ext uri="{BB962C8B-B14F-4D97-AF65-F5344CB8AC3E}">
        <p14:creationId xmlns:p14="http://schemas.microsoft.com/office/powerpoint/2010/main" val="291216123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59435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dirty="0">
                <a:solidFill>
                  <a:srgbClr val="C00000"/>
                </a:solidFill>
              </a:rPr>
              <a:t>FE142: LOW COST SMALL DIAMETER TORQUE SENSOR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76200" y="1066800"/>
            <a:ext cx="8686800" cy="60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l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l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l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1800" dirty="0" smtClean="0">
                <a:solidFill>
                  <a:srgbClr val="002060"/>
                </a:solidFill>
              </a:rPr>
              <a:t>Performance with modified geometry and property- Post Adjustment</a:t>
            </a:r>
            <a:endParaRPr lang="en-US" sz="1800" b="1" i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19400" y="2234897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dirty="0" smtClean="0">
                <a:solidFill>
                  <a:prstClr val="black"/>
                </a:solidFill>
                <a:latin typeface="Century Schoolbook" pitchFamily="18" charset="0"/>
              </a:rPr>
              <a:t>Sensor @ nominal position</a:t>
            </a:r>
            <a:endParaRPr lang="en-US" sz="1100" dirty="0">
              <a:solidFill>
                <a:prstClr val="black"/>
              </a:solidFill>
              <a:latin typeface="Century Schoolbook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498" y="1611337"/>
            <a:ext cx="3900852" cy="177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47891"/>
            <a:ext cx="2008258" cy="1897232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268259"/>
              </p:ext>
            </p:extLst>
          </p:nvPr>
        </p:nvGraphicFramePr>
        <p:xfrm>
          <a:off x="3429000" y="3581400"/>
          <a:ext cx="5463102" cy="1125474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447800"/>
                <a:gridCol w="1981200"/>
                <a:gridCol w="2034102"/>
              </a:tblGrid>
              <a:tr h="45720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Parameter</a:t>
                      </a:r>
                      <a:endParaRPr lang="en-US" sz="1100" dirty="0"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cap="small" dirty="0" smtClean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Initial</a:t>
                      </a:r>
                      <a:r>
                        <a:rPr lang="en-US" sz="1100" cap="small" baseline="0" dirty="0" smtClean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Proposal-Ring Magnet</a:t>
                      </a:r>
                      <a:endParaRPr lang="en-US" sz="1100" cap="small" dirty="0"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cap="small" dirty="0" smtClean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Proposed</a:t>
                      </a:r>
                      <a:r>
                        <a:rPr lang="en-US" sz="1100" cap="small" baseline="0" dirty="0" smtClean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Design-Post Adjustments</a:t>
                      </a:r>
                      <a:endParaRPr lang="en-US" sz="1100" cap="small" dirty="0"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28763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Outermost diameter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46.76 mm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47.06 mm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76095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Linear region gain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27 Gauss/</a:t>
                      </a:r>
                      <a:r>
                        <a:rPr lang="en-US" sz="1100" baseline="0" dirty="0" err="1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deg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27.16</a:t>
                      </a:r>
                      <a:r>
                        <a:rPr lang="en-US" sz="1100" baseline="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Gauss/</a:t>
                      </a:r>
                      <a:r>
                        <a:rPr lang="en-US" sz="1100" dirty="0" err="1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deg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46725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Max. peak-peak ripple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 Gauss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2.5 Gauss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6" name="Text Placeholder 2"/>
          <p:cNvSpPr>
            <a:spLocks noGrp="1"/>
          </p:cNvSpPr>
          <p:nvPr>
            <p:ph type="body" sz="half" idx="11"/>
          </p:nvPr>
        </p:nvSpPr>
        <p:spPr>
          <a:xfrm>
            <a:off x="2667000" y="1630387"/>
            <a:ext cx="2466491" cy="45720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 Gain: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20416"/>
              </p:ext>
            </p:extLst>
          </p:nvPr>
        </p:nvGraphicFramePr>
        <p:xfrm>
          <a:off x="3429000" y="4953000"/>
          <a:ext cx="5410200" cy="1156716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447800"/>
                <a:gridCol w="1447800"/>
                <a:gridCol w="2514600"/>
              </a:tblGrid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cap="small" baseline="0" dirty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Parameter</a:t>
                      </a:r>
                      <a:endParaRPr lang="en-US" sz="1100" cap="small" baseline="0" dirty="0"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cap="small" baseline="0" dirty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Production design</a:t>
                      </a:r>
                      <a:endParaRPr lang="en-US" sz="1100" cap="small" baseline="0" dirty="0"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cap="small" baseline="0" dirty="0"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Proposed design</a:t>
                      </a:r>
                      <a:endParaRPr lang="en-US" sz="1100" cap="small" baseline="0" dirty="0"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 magnet volume</a:t>
                      </a:r>
                      <a:endParaRPr lang="en-US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1305 mm</a:t>
                      </a:r>
                      <a:r>
                        <a:rPr lang="en-US" sz="1100" baseline="300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  <a:endParaRPr lang="en-US" sz="1100" baseline="30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Injection molded magnet. Cheaper than sintered.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Outermost diameter</a:t>
                      </a:r>
                      <a:endParaRPr lang="en-US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51.88 mm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47.06 mm</a:t>
                      </a: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Linear region gain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25.25 Gauss/</a:t>
                      </a:r>
                      <a:r>
                        <a:rPr lang="en-US" sz="1100" baseline="0" dirty="0" err="1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deg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27.16</a:t>
                      </a:r>
                      <a:r>
                        <a:rPr lang="en-US" sz="1100" baseline="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Gauss/</a:t>
                      </a:r>
                      <a:r>
                        <a:rPr lang="en-US" sz="1100" dirty="0" err="1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deg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Max. peak-peak ripple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6.74 Gauss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2.5 Gauss</a:t>
                      </a:r>
                      <a:endParaRPr lang="en-US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38200" y="4114800"/>
            <a:ext cx="1981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itchFamily="2" charset="2"/>
              <a:buChar char="§"/>
            </a:pPr>
            <a:r>
              <a:rPr lang="en-US" sz="1100" dirty="0" smtClean="0">
                <a:solidFill>
                  <a:srgbClr val="002060"/>
                </a:solidFill>
                <a:latin typeface="Century Schoolbook" pitchFamily="18" charset="0"/>
              </a:rPr>
              <a:t>Comparison between initial and final proposed design</a:t>
            </a:r>
            <a:endParaRPr lang="en-US" sz="1100" dirty="0">
              <a:solidFill>
                <a:srgbClr val="002060"/>
              </a:solidFill>
              <a:latin typeface="Century Schoolbook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9086" y="5320393"/>
            <a:ext cx="1981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itchFamily="2" charset="2"/>
              <a:buChar char="§"/>
            </a:pPr>
            <a:r>
              <a:rPr lang="en-US" sz="1100" dirty="0" smtClean="0">
                <a:solidFill>
                  <a:srgbClr val="002060"/>
                </a:solidFill>
                <a:latin typeface="Century Schoolbook" pitchFamily="18" charset="0"/>
              </a:rPr>
              <a:t>Comparison between production and final proposed design</a:t>
            </a:r>
            <a:endParaRPr lang="en-US" sz="1100" dirty="0">
              <a:solidFill>
                <a:srgbClr val="002060"/>
              </a:solidFill>
              <a:latin typeface="Century Schoolbook" pitchFamily="18" charset="0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895600" y="4313521"/>
            <a:ext cx="381000" cy="6757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2895600" y="5486400"/>
            <a:ext cx="381000" cy="6757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0498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16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864"/>
            <a:ext cx="8229600" cy="14265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Closed Loop Steering Control</a:t>
            </a:r>
            <a:br>
              <a:rPr lang="en-US" dirty="0" smtClean="0"/>
            </a:br>
            <a:r>
              <a:rPr lang="en-US" dirty="0" smtClean="0"/>
              <a:t>(MRA Pursuit)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34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/>
          <p:nvPr/>
        </p:nvCxnSpPr>
        <p:spPr>
          <a:xfrm>
            <a:off x="379515" y="6152784"/>
            <a:ext cx="826186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619674" y="1173133"/>
            <a:ext cx="0" cy="515649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20608" y="6214555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Steering Feel Performance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rot="16200000">
            <a:off x="-1040106" y="2408087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Steering Feel Robustness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21" y="-14177"/>
            <a:ext cx="8229600" cy="547577"/>
          </a:xfrm>
        </p:spPr>
        <p:txBody>
          <a:bodyPr/>
          <a:lstStyle/>
          <a:p>
            <a:r>
              <a:rPr lang="en-US" sz="1800" dirty="0" smtClean="0">
                <a:solidFill>
                  <a:srgbClr val="C00000"/>
                </a:solidFill>
              </a:rPr>
              <a:t>EPS Performance and Robustness Evolution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915916-9972-4921-9E51-B5531CF43FA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776098" y="4806435"/>
            <a:ext cx="2190763" cy="1143000"/>
          </a:xfrm>
          <a:prstGeom prst="ellipse">
            <a:avLst/>
          </a:prstGeom>
          <a:solidFill>
            <a:srgbClr val="E98B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Early EPS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813690" y="2269929"/>
            <a:ext cx="884127" cy="2063784"/>
            <a:chOff x="6813690" y="2269929"/>
            <a:chExt cx="884127" cy="2063784"/>
          </a:xfrm>
        </p:grpSpPr>
        <p:sp>
          <p:nvSpPr>
            <p:cNvPr id="28" name="Right Arrow 27"/>
            <p:cNvSpPr/>
            <p:nvPr/>
          </p:nvSpPr>
          <p:spPr>
            <a:xfrm rot="17827936">
              <a:off x="6079153" y="3004466"/>
              <a:ext cx="1773874" cy="304800"/>
            </a:xfrm>
            <a:prstGeom prst="rightArrow">
              <a:avLst/>
            </a:prstGeom>
            <a:gradFill flip="none" rotWithShape="1">
              <a:gsLst>
                <a:gs pos="0">
                  <a:srgbClr val="92D050"/>
                </a:gs>
                <a:gs pos="100000">
                  <a:srgbClr val="FFC000"/>
                </a:gs>
              </a:gsLst>
              <a:lin ang="81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 rot="17824007">
              <a:off x="6369264" y="3005159"/>
              <a:ext cx="2010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Algorithm enhancements to address variations (friction, wear, temp, </a:t>
              </a:r>
              <a:r>
                <a:rPr lang="en-US" sz="1200" dirty="0" err="1" smtClean="0"/>
                <a:t>etc</a:t>
              </a:r>
              <a:r>
                <a:rPr lang="en-US" sz="1200" dirty="0" smtClean="0"/>
                <a:t>)</a:t>
              </a:r>
              <a:endParaRPr lang="en-US" sz="1200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005763" y="4044356"/>
            <a:ext cx="4485761" cy="1767140"/>
            <a:chOff x="3005763" y="4044356"/>
            <a:chExt cx="4485761" cy="1767140"/>
          </a:xfrm>
        </p:grpSpPr>
        <p:sp>
          <p:nvSpPr>
            <p:cNvPr id="26" name="Oval 25"/>
            <p:cNvSpPr/>
            <p:nvPr/>
          </p:nvSpPr>
          <p:spPr>
            <a:xfrm>
              <a:off x="5300761" y="4044356"/>
              <a:ext cx="2190763" cy="1143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Open Loop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EPS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3005763" y="4928171"/>
              <a:ext cx="2398089" cy="883325"/>
              <a:chOff x="3005763" y="4928171"/>
              <a:chExt cx="2398089" cy="883325"/>
            </a:xfrm>
          </p:grpSpPr>
          <p:sp>
            <p:nvSpPr>
              <p:cNvPr id="29" name="TextBox 28"/>
              <p:cNvSpPr txBox="1"/>
              <p:nvPr/>
            </p:nvSpPr>
            <p:spPr>
              <a:xfrm rot="20846023">
                <a:off x="3005763" y="5165165"/>
                <a:ext cx="23980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Development focused on steering feel performance to meet/exceed hydraulic steering</a:t>
                </a:r>
                <a:endParaRPr lang="en-US" sz="1200" dirty="0"/>
              </a:p>
            </p:txBody>
          </p:sp>
          <p:sp>
            <p:nvSpPr>
              <p:cNvPr id="22" name="Right Arrow 21"/>
              <p:cNvSpPr/>
              <p:nvPr/>
            </p:nvSpPr>
            <p:spPr>
              <a:xfrm rot="20852495">
                <a:off x="3010311" y="4928171"/>
                <a:ext cx="2323005" cy="304800"/>
              </a:xfrm>
              <a:prstGeom prst="rightArrow">
                <a:avLst/>
              </a:prstGeom>
              <a:gradFill flip="none" rotWithShape="1">
                <a:gsLst>
                  <a:gs pos="0">
                    <a:srgbClr val="FFC000"/>
                  </a:gs>
                  <a:gs pos="100000">
                    <a:srgbClr val="E98B7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2126393" y="1678968"/>
            <a:ext cx="3561460" cy="2239301"/>
            <a:chOff x="2126393" y="1678968"/>
            <a:chExt cx="3561460" cy="2239301"/>
          </a:xfrm>
        </p:grpSpPr>
        <p:sp>
          <p:nvSpPr>
            <p:cNvPr id="27" name="Oval 26"/>
            <p:cNvSpPr/>
            <p:nvPr/>
          </p:nvSpPr>
          <p:spPr>
            <a:xfrm>
              <a:off x="2126393" y="1678968"/>
              <a:ext cx="2190763" cy="1143000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Closed Loop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EPS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 rot="2367055">
              <a:off x="2941128" y="3456604"/>
              <a:ext cx="26187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Technology change to address variations (friction, wear, temp, </a:t>
              </a:r>
              <a:r>
                <a:rPr lang="en-US" sz="1200" dirty="0" err="1" smtClean="0"/>
                <a:t>etc</a:t>
              </a:r>
              <a:r>
                <a:rPr lang="en-US" sz="1200" dirty="0" smtClean="0"/>
                <a:t>)</a:t>
              </a:r>
              <a:endParaRPr lang="en-US" sz="1200" dirty="0"/>
            </a:p>
          </p:txBody>
        </p:sp>
        <p:sp>
          <p:nvSpPr>
            <p:cNvPr id="33" name="Right Arrow 32"/>
            <p:cNvSpPr/>
            <p:nvPr/>
          </p:nvSpPr>
          <p:spPr>
            <a:xfrm rot="13220184">
              <a:off x="3480901" y="3354362"/>
              <a:ext cx="2206952" cy="311855"/>
            </a:xfrm>
            <a:prstGeom prst="rightArrow">
              <a:avLst/>
            </a:prstGeom>
            <a:gradFill flip="none" rotWithShape="1">
              <a:gsLst>
                <a:gs pos="0">
                  <a:srgbClr val="FFFF99"/>
                </a:gs>
                <a:gs pos="100000">
                  <a:srgbClr val="FFC000"/>
                </a:gs>
              </a:gsLst>
              <a:lin ang="81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6096000" y="1173133"/>
            <a:ext cx="2518801" cy="1124896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EPS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Optimized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robustness &amp; feel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074234" y="877536"/>
            <a:ext cx="1954860" cy="1296713"/>
            <a:chOff x="4074234" y="877536"/>
            <a:chExt cx="1954860" cy="1296713"/>
          </a:xfrm>
        </p:grpSpPr>
        <p:sp>
          <p:nvSpPr>
            <p:cNvPr id="31" name="TextBox 30"/>
            <p:cNvSpPr txBox="1"/>
            <p:nvPr/>
          </p:nvSpPr>
          <p:spPr>
            <a:xfrm rot="21085320">
              <a:off x="4074234" y="877536"/>
              <a:ext cx="188115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Algorithm enhancements to address special vehicle conditions (</a:t>
              </a:r>
              <a:r>
                <a:rPr lang="en-US" sz="1200" dirty="0" err="1" smtClean="0"/>
                <a:t>oversteer</a:t>
              </a:r>
              <a:r>
                <a:rPr lang="en-US" sz="1200" dirty="0" smtClean="0"/>
                <a:t>, understeer, low-mu, </a:t>
              </a:r>
              <a:r>
                <a:rPr lang="en-US" sz="1200" dirty="0" err="1" smtClean="0"/>
                <a:t>etc</a:t>
              </a:r>
              <a:r>
                <a:rPr lang="en-US" sz="1200" dirty="0" smtClean="0"/>
                <a:t>)</a:t>
              </a:r>
              <a:endParaRPr lang="en-US" sz="1200" dirty="0"/>
            </a:p>
          </p:txBody>
        </p:sp>
        <p:sp>
          <p:nvSpPr>
            <p:cNvPr id="34" name="Right Arrow 33"/>
            <p:cNvSpPr/>
            <p:nvPr/>
          </p:nvSpPr>
          <p:spPr>
            <a:xfrm rot="21098315">
              <a:off x="4411862" y="1869449"/>
              <a:ext cx="1617232" cy="304800"/>
            </a:xfrm>
            <a:prstGeom prst="rightArrow">
              <a:avLst/>
            </a:prstGeom>
            <a:gradFill flip="none" rotWithShape="1">
              <a:gsLst>
                <a:gs pos="0">
                  <a:srgbClr val="92D050"/>
                </a:gs>
                <a:gs pos="100000">
                  <a:srgbClr val="FFFF99"/>
                </a:gs>
              </a:gsLst>
              <a:lin ang="81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88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95197"/>
              </p:ext>
            </p:extLst>
          </p:nvPr>
        </p:nvGraphicFramePr>
        <p:xfrm>
          <a:off x="152400" y="567267"/>
          <a:ext cx="88392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67000"/>
                <a:gridCol w="3200400"/>
                <a:gridCol w="2971800"/>
              </a:tblGrid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1200" dirty="0" smtClean="0"/>
                        <a:t>Criteria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1200" dirty="0" smtClean="0"/>
                        <a:t>Open-</a:t>
                      </a:r>
                      <a:r>
                        <a:rPr lang="en-US" sz="1200" baseline="0" dirty="0" smtClean="0"/>
                        <a:t>Loop</a:t>
                      </a:r>
                      <a:r>
                        <a:rPr lang="en-US" sz="1200" dirty="0" smtClean="0"/>
                        <a:t> Control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1200" dirty="0" smtClean="0"/>
                        <a:t>Closed</a:t>
                      </a:r>
                      <a:r>
                        <a:rPr lang="en-US" sz="1200" baseline="0" dirty="0" smtClean="0"/>
                        <a:t>-Loop Control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915916-9972-4921-9E51-B5531CF43FA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0" y="30480"/>
            <a:ext cx="716280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9pPr>
          </a:lstStyle>
          <a:p>
            <a:r>
              <a:rPr lang="en-US" sz="1800" dirty="0" smtClean="0">
                <a:solidFill>
                  <a:srgbClr val="C00000"/>
                </a:solidFill>
              </a:rPr>
              <a:t>EPS Open-Loop Control </a:t>
            </a:r>
            <a:r>
              <a:rPr lang="en-US" sz="1800" i="1" dirty="0" smtClean="0">
                <a:solidFill>
                  <a:srgbClr val="C00000"/>
                </a:solidFill>
              </a:rPr>
              <a:t>vs. </a:t>
            </a:r>
            <a:r>
              <a:rPr lang="en-US" sz="1800" dirty="0" smtClean="0">
                <a:solidFill>
                  <a:srgbClr val="C00000"/>
                </a:solidFill>
              </a:rPr>
              <a:t>Closed-Loop Control</a:t>
            </a:r>
            <a:endParaRPr lang="en-US" sz="1800" dirty="0"/>
          </a:p>
        </p:txBody>
      </p:sp>
      <p:graphicFrame>
        <p:nvGraphicFramePr>
          <p:cNvPr id="8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379198"/>
              </p:ext>
            </p:extLst>
          </p:nvPr>
        </p:nvGraphicFramePr>
        <p:xfrm>
          <a:off x="152400" y="1676400"/>
          <a:ext cx="8839200" cy="92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/>
                <a:gridCol w="3200400"/>
                <a:gridCol w="29718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sng" dirty="0" smtClean="0"/>
                        <a:t>Road</a:t>
                      </a:r>
                      <a:r>
                        <a:rPr lang="en-US" sz="1100" u="sng" baseline="0" dirty="0" smtClean="0"/>
                        <a:t> Feel / Vehicle Condition</a:t>
                      </a:r>
                      <a:r>
                        <a:rPr lang="en-US" sz="1100" baseline="0" dirty="0" smtClean="0"/>
                        <a:t/>
                      </a:r>
                      <a:br>
                        <a:rPr lang="en-US" sz="1100" baseline="0" dirty="0" smtClean="0"/>
                      </a:br>
                      <a:r>
                        <a:rPr lang="en-US" sz="1100" baseline="0" dirty="0" smtClean="0"/>
                        <a:t>Perception of mu-change, uneven surfaces, bank angle, over steer, under steer, …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1" dirty="0" smtClean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aseline="0" dirty="0" smtClean="0"/>
                        <a:t>Natural balance of forces reflect road surface and vehicle condition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Requires special detection</a:t>
                      </a:r>
                      <a:r>
                        <a:rPr lang="en-US" sz="1100" baseline="0" dirty="0" smtClean="0"/>
                        <a:t> and control action</a:t>
                      </a:r>
                      <a:r>
                        <a:rPr lang="en-US" sz="1100" dirty="0" smtClean="0"/>
                        <a:t> to reflect</a:t>
                      </a:r>
                      <a:r>
                        <a:rPr lang="en-US" sz="1100" baseline="0" dirty="0" smtClean="0"/>
                        <a:t> changes in the road surface and vehicle condition</a:t>
                      </a:r>
                      <a:endParaRPr lang="en-US" sz="11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439078"/>
              </p:ext>
            </p:extLst>
          </p:nvPr>
        </p:nvGraphicFramePr>
        <p:xfrm>
          <a:off x="152400" y="2606040"/>
          <a:ext cx="8839200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/>
                <a:gridCol w="3200400"/>
                <a:gridCol w="2971800"/>
              </a:tblGrid>
              <a:tr h="4419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sng" dirty="0" smtClean="0"/>
                        <a:t>Disturbance</a:t>
                      </a:r>
                      <a:r>
                        <a:rPr lang="en-US" sz="1100" u="sng" baseline="0" dirty="0" smtClean="0"/>
                        <a:t> Rejection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Capability for rejecting disturbances from road, motor, vehicle, etc.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Requires</a:t>
                      </a:r>
                      <a:r>
                        <a:rPr lang="en-US" sz="1100" baseline="0" dirty="0" smtClean="0"/>
                        <a:t> specific </a:t>
                      </a:r>
                      <a:r>
                        <a:rPr lang="en-US" sz="1100" dirty="0" smtClean="0"/>
                        <a:t>algorithms and </a:t>
                      </a:r>
                      <a:r>
                        <a:rPr lang="en-US" sz="1100" baseline="0" dirty="0" smtClean="0"/>
                        <a:t>t</a:t>
                      </a:r>
                      <a:r>
                        <a:rPr lang="en-US" sz="1100" dirty="0" smtClean="0"/>
                        <a:t>uning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Closed-loop</a:t>
                      </a:r>
                      <a:r>
                        <a:rPr lang="en-US" sz="1100" baseline="0" dirty="0" smtClean="0"/>
                        <a:t> control inherently rejects disturbances, depending on disturbance frequency and servo bandwidth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949640"/>
              </p:ext>
            </p:extLst>
          </p:nvPr>
        </p:nvGraphicFramePr>
        <p:xfrm>
          <a:off x="152400" y="914400"/>
          <a:ext cx="883920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/>
                <a:gridCol w="3200400"/>
                <a:gridCol w="2971800"/>
              </a:tblGrid>
              <a:tr h="624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sng" baseline="0" dirty="0" smtClean="0"/>
                        <a:t>Performance Robustness</a:t>
                      </a:r>
                      <a:endParaRPr lang="en-US" sz="1100" u="none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Robustness to variations in manufacturing, friction, wear, usage, ...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Dedicated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dirty="0" smtClean="0"/>
                        <a:t>algorithms</a:t>
                      </a:r>
                      <a:r>
                        <a:rPr lang="en-US" sz="1100" baseline="0" dirty="0" smtClean="0"/>
                        <a:t> required to manage performance variation (Friction Learn/Comp Temperature Comp, SRS Comp, Active Pull Comp)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</a:t>
                      </a:r>
                      <a:r>
                        <a:rPr lang="en-US" sz="1100" baseline="0" dirty="0" smtClean="0"/>
                        <a:t>ompensates for variations by design to give consistent performance</a:t>
                      </a:r>
                      <a:endParaRPr lang="en-US" sz="11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304527"/>
              </p:ext>
            </p:extLst>
          </p:nvPr>
        </p:nvGraphicFramePr>
        <p:xfrm>
          <a:off x="152400" y="3200400"/>
          <a:ext cx="8839200" cy="1264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/>
                <a:gridCol w="3200400"/>
                <a:gridCol w="2971800"/>
              </a:tblGrid>
              <a:tr h="624840">
                <a:tc>
                  <a:txBody>
                    <a:bodyPr/>
                    <a:lstStyle/>
                    <a:p>
                      <a:r>
                        <a:rPr lang="en-US" sz="1100" u="sng" dirty="0" smtClean="0"/>
                        <a:t>Tuning Interface</a:t>
                      </a:r>
                      <a:r>
                        <a:rPr lang="en-US" sz="1100" dirty="0" smtClean="0"/>
                        <a:t/>
                      </a:r>
                      <a:br>
                        <a:rPr lang="en-US" sz="1100" dirty="0" smtClean="0"/>
                      </a:br>
                      <a:r>
                        <a:rPr lang="en-US" sz="1100" dirty="0" smtClean="0"/>
                        <a:t>Relationship between tuning parameter</a:t>
                      </a:r>
                      <a:r>
                        <a:rPr lang="en-US" sz="1100" baseline="0" dirty="0" smtClean="0"/>
                        <a:t>s and steering feel</a:t>
                      </a:r>
                    </a:p>
                    <a:p>
                      <a:endParaRPr lang="en-US" sz="1100" i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aseline="0" dirty="0" smtClean="0"/>
                        <a:t>Friction &amp; Damping: compensate effects to get desired friction &amp; damping feel</a:t>
                      </a:r>
                    </a:p>
                    <a:p>
                      <a:endParaRPr lang="en-US" sz="1100" baseline="0" dirty="0" smtClean="0"/>
                    </a:p>
                    <a:p>
                      <a:r>
                        <a:rPr lang="en-US" sz="1100" baseline="0" dirty="0" smtClean="0"/>
                        <a:t>Assist: Indirect relationship to driver torque. </a:t>
                      </a:r>
                    </a:p>
                    <a:p>
                      <a:endParaRPr lang="en-US" sz="1100" baseline="0" dirty="0" smtClean="0"/>
                    </a:p>
                    <a:p>
                      <a:r>
                        <a:rPr lang="en-US" sz="1100" baseline="0" dirty="0" smtClean="0"/>
                        <a:t>Effort: open-loop estimation of driver torque</a:t>
                      </a:r>
                    </a:p>
                    <a:p>
                      <a:endParaRPr lang="en-US" sz="11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Friction </a:t>
                      </a:r>
                      <a:r>
                        <a:rPr lang="en-US" sz="1100" baseline="0" dirty="0" smtClean="0"/>
                        <a:t>&amp; Damping</a:t>
                      </a:r>
                      <a:r>
                        <a:rPr lang="en-US" sz="1100" dirty="0" smtClean="0"/>
                        <a:t>: directly calibrate desired steering feel performance</a:t>
                      </a:r>
                    </a:p>
                    <a:p>
                      <a:endParaRPr lang="en-US" sz="1100" dirty="0" smtClean="0"/>
                    </a:p>
                    <a:p>
                      <a:endParaRPr lang="en-US" sz="1100" dirty="0" smtClean="0"/>
                    </a:p>
                    <a:p>
                      <a:endParaRPr lang="en-US" sz="1100" dirty="0" smtClean="0"/>
                    </a:p>
                    <a:p>
                      <a:r>
                        <a:rPr lang="en-US" sz="1100" dirty="0" smtClean="0"/>
                        <a:t>Effort:</a:t>
                      </a:r>
                      <a:r>
                        <a:rPr lang="en-US" sz="1100" baseline="0" dirty="0" smtClean="0"/>
                        <a:t> direct relationship to driver torque</a:t>
                      </a:r>
                      <a:endParaRPr lang="en-US" sz="11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690887"/>
              </p:ext>
            </p:extLst>
          </p:nvPr>
        </p:nvGraphicFramePr>
        <p:xfrm>
          <a:off x="152400" y="4470399"/>
          <a:ext cx="883920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/>
                <a:gridCol w="3200400"/>
                <a:gridCol w="2971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u="sng" dirty="0" smtClean="0"/>
                        <a:t>Tuning Process</a:t>
                      </a:r>
                      <a:br>
                        <a:rPr lang="en-US" sz="1100" u="sng" dirty="0" smtClean="0"/>
                      </a:br>
                      <a:r>
                        <a:rPr lang="en-US" sz="1100" u="none" dirty="0" smtClean="0"/>
                        <a:t>C</a:t>
                      </a:r>
                      <a:r>
                        <a:rPr lang="en-US" sz="1100" dirty="0" smtClean="0"/>
                        <a:t>oupling</a:t>
                      </a:r>
                      <a:r>
                        <a:rPr lang="en-US" sz="1100" baseline="0" dirty="0" smtClean="0"/>
                        <a:t> among the tuning parameters, tuning difficulty and time</a:t>
                      </a:r>
                    </a:p>
                    <a:p>
                      <a:endParaRPr lang="en-US" sz="11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Desired</a:t>
                      </a:r>
                      <a:r>
                        <a:rPr lang="en-US" sz="1100" baseline="0" dirty="0" smtClean="0"/>
                        <a:t> feel is achievable but requires a structured tuning process and iterations </a:t>
                      </a:r>
                      <a:br>
                        <a:rPr lang="en-US" sz="1100" baseline="0" dirty="0" smtClean="0"/>
                      </a:br>
                      <a:r>
                        <a:rPr lang="en-US" sz="1100" baseline="0" dirty="0" smtClean="0"/>
                        <a:t>(processes are well developed)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High</a:t>
                      </a:r>
                      <a:r>
                        <a:rPr lang="en-US" sz="1100" baseline="0" dirty="0" smtClean="0"/>
                        <a:t> level functions such as effort, return, and damping have less coupling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70489"/>
              </p:ext>
            </p:extLst>
          </p:nvPr>
        </p:nvGraphicFramePr>
        <p:xfrm>
          <a:off x="152400" y="5234093"/>
          <a:ext cx="8839200" cy="92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/>
                <a:gridCol w="3200400"/>
                <a:gridCol w="2971800"/>
              </a:tblGrid>
              <a:tr h="929640">
                <a:tc>
                  <a:txBody>
                    <a:bodyPr/>
                    <a:lstStyle/>
                    <a:p>
                      <a:r>
                        <a:rPr lang="en-US" sz="1100" u="sng" dirty="0" smtClean="0"/>
                        <a:t>Tuning Portability</a:t>
                      </a:r>
                    </a:p>
                    <a:p>
                      <a:r>
                        <a:rPr lang="en-US" sz="1100" dirty="0" smtClean="0"/>
                        <a:t>Ease of </a:t>
                      </a:r>
                      <a:r>
                        <a:rPr lang="en-US" sz="1100" baseline="0" dirty="0" smtClean="0"/>
                        <a:t>porting tuning across platforms</a:t>
                      </a:r>
                      <a:endParaRPr lang="en-US" sz="1100" i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Limited portability,</a:t>
                      </a:r>
                      <a:r>
                        <a:rPr lang="en-US" sz="1100" baseline="0" dirty="0" smtClean="0"/>
                        <a:t> but mature industry experience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Tuning calibrations</a:t>
                      </a:r>
                      <a:r>
                        <a:rPr lang="en-US" sz="1100" baseline="0" dirty="0" smtClean="0"/>
                        <a:t> potentially portable, but depends on vehicle response</a:t>
                      </a:r>
                    </a:p>
                    <a:p>
                      <a:endParaRPr lang="en-US" sz="1100" baseline="0" dirty="0" smtClean="0"/>
                    </a:p>
                    <a:p>
                      <a:r>
                        <a:rPr lang="en-US" sz="1100" baseline="0" dirty="0" smtClean="0"/>
                        <a:t>Some calibrations require vehicle test data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74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162800" cy="609600"/>
          </a:xfrm>
        </p:spPr>
        <p:txBody>
          <a:bodyPr/>
          <a:lstStyle/>
          <a:p>
            <a:r>
              <a:rPr lang="en-US" sz="1800" dirty="0" smtClean="0"/>
              <a:t>EPS Closed-Loop Control Technology – Status and Timeline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915916-9972-4921-9E51-B5531CF43FA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06884" y="1727801"/>
            <a:ext cx="1854398" cy="4276372"/>
            <a:chOff x="306884" y="1727801"/>
            <a:chExt cx="1854398" cy="4276372"/>
          </a:xfrm>
        </p:grpSpPr>
        <p:sp>
          <p:nvSpPr>
            <p:cNvPr id="6" name="Rectangle 5"/>
            <p:cNvSpPr/>
            <p:nvPr/>
          </p:nvSpPr>
          <p:spPr>
            <a:xfrm>
              <a:off x="385030" y="3108573"/>
              <a:ext cx="1554480" cy="2895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>
                  <a:solidFill>
                    <a:schemeClr val="tx1"/>
                  </a:solidFill>
                </a:rPr>
                <a:t>C</a:t>
              </a:r>
              <a:r>
                <a:rPr lang="en-US" sz="1400" b="1" dirty="0" smtClean="0">
                  <a:solidFill>
                    <a:schemeClr val="tx1"/>
                  </a:solidFill>
                </a:rPr>
                <a:t>oncept generation</a:t>
              </a:r>
              <a:endParaRPr lang="en-US" sz="1400" b="1" dirty="0" smtClean="0"/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Literature survey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Market analysis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 rot="184738">
              <a:off x="306884" y="1727801"/>
              <a:ext cx="1854398" cy="741759"/>
              <a:chOff x="2083" y="276820"/>
              <a:chExt cx="1854398" cy="741759"/>
            </a:xfrm>
          </p:grpSpPr>
          <p:sp>
            <p:nvSpPr>
              <p:cNvPr id="24" name="Chevron 23"/>
              <p:cNvSpPr/>
              <p:nvPr/>
            </p:nvSpPr>
            <p:spPr>
              <a:xfrm rot="21007283">
                <a:off x="2083" y="276820"/>
                <a:ext cx="1854398" cy="741759"/>
              </a:xfrm>
              <a:prstGeom prst="chevron">
                <a:avLst/>
              </a:prstGeom>
              <a:solidFill>
                <a:srgbClr val="92D05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Chevron 4"/>
              <p:cNvSpPr/>
              <p:nvPr/>
            </p:nvSpPr>
            <p:spPr>
              <a:xfrm rot="21007283">
                <a:off x="372963" y="276820"/>
                <a:ext cx="1112639" cy="74175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011" tIns="29337" rIns="29337" bIns="29337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200" kern="1200" dirty="0" smtClean="0">
                    <a:solidFill>
                      <a:schemeClr val="tx1"/>
                    </a:solidFill>
                  </a:rPr>
                  <a:t>2012</a:t>
                </a:r>
                <a:endParaRPr lang="en-US" sz="2200" kern="12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1977554" y="1493866"/>
            <a:ext cx="1854398" cy="4510307"/>
            <a:chOff x="1977554" y="1493866"/>
            <a:chExt cx="1854398" cy="4510307"/>
          </a:xfrm>
        </p:grpSpPr>
        <p:sp>
          <p:nvSpPr>
            <p:cNvPr id="7" name="Rectangle 6"/>
            <p:cNvSpPr/>
            <p:nvPr/>
          </p:nvSpPr>
          <p:spPr>
            <a:xfrm>
              <a:off x="2057400" y="2879203"/>
              <a:ext cx="1554480" cy="312497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Control design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Numerical simulation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Control strategy selection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AUTOSAR </a:t>
              </a:r>
              <a:r>
                <a:rPr lang="en-US" sz="1400" b="1" dirty="0" err="1" smtClean="0">
                  <a:solidFill>
                    <a:schemeClr val="tx1"/>
                  </a:solidFill>
                </a:rPr>
                <a:t>Autocoding</a:t>
              </a:r>
              <a:endParaRPr lang="en-US" sz="1400" b="1" dirty="0" smtClean="0">
                <a:solidFill>
                  <a:schemeClr val="tx1"/>
                </a:solidFill>
              </a:endParaRP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>
                  <a:solidFill>
                    <a:schemeClr val="tx1"/>
                  </a:solidFill>
                </a:rPr>
                <a:t>Prototype software build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endParaRPr lang="en-US" sz="1400" b="1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 rot="184738">
              <a:off x="1977554" y="1493866"/>
              <a:ext cx="1854398" cy="741759"/>
              <a:chOff x="1671044" y="1175"/>
              <a:chExt cx="1854398" cy="741759"/>
            </a:xfrm>
          </p:grpSpPr>
          <p:sp>
            <p:nvSpPr>
              <p:cNvPr id="22" name="Chevron 21"/>
              <p:cNvSpPr/>
              <p:nvPr/>
            </p:nvSpPr>
            <p:spPr>
              <a:xfrm rot="21007283">
                <a:off x="1671044" y="1175"/>
                <a:ext cx="1854398" cy="741759"/>
              </a:xfrm>
              <a:prstGeom prst="chevron">
                <a:avLst/>
              </a:prstGeom>
              <a:solidFill>
                <a:srgbClr val="92D05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Chevron 6"/>
              <p:cNvSpPr/>
              <p:nvPr/>
            </p:nvSpPr>
            <p:spPr>
              <a:xfrm rot="21007283">
                <a:off x="2041924" y="1175"/>
                <a:ext cx="1112639" cy="74175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011" tIns="29337" rIns="29337" bIns="29337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200" kern="12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3665084" y="1307654"/>
            <a:ext cx="1854398" cy="4696519"/>
            <a:chOff x="3665084" y="1307654"/>
            <a:chExt cx="1854398" cy="4696519"/>
          </a:xfrm>
        </p:grpSpPr>
        <p:sp>
          <p:nvSpPr>
            <p:cNvPr id="8" name="Rectangle 7"/>
            <p:cNvSpPr/>
            <p:nvPr/>
          </p:nvSpPr>
          <p:spPr>
            <a:xfrm>
              <a:off x="3733800" y="2651373"/>
              <a:ext cx="1554480" cy="33528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Controller and gear build 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Bench test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>
                  <a:solidFill>
                    <a:schemeClr val="tx1"/>
                  </a:solidFill>
                </a:rPr>
                <a:t>Vehicle </a:t>
              </a:r>
              <a:r>
                <a:rPr lang="en-US" sz="1400" b="1" dirty="0" smtClean="0">
                  <a:solidFill>
                    <a:schemeClr val="tx1"/>
                  </a:solidFill>
                </a:rPr>
                <a:t>integration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Internal vehicle build</a:t>
              </a:r>
              <a:endParaRPr lang="en-US" sz="1400" b="1" dirty="0">
                <a:solidFill>
                  <a:schemeClr val="tx1"/>
                </a:solidFill>
              </a:endParaRP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Demonstrated </a:t>
              </a:r>
              <a:r>
                <a:rPr lang="en-US" sz="1400" b="1" dirty="0">
                  <a:solidFill>
                    <a:schemeClr val="tx1"/>
                  </a:solidFill>
                </a:rPr>
                <a:t>performance </a:t>
              </a:r>
              <a:r>
                <a:rPr lang="en-US" sz="1400" b="1" dirty="0" smtClean="0">
                  <a:solidFill>
                    <a:schemeClr val="tx1"/>
                  </a:solidFill>
                </a:rPr>
                <a:t>to GM</a:t>
              </a:r>
              <a:endParaRPr lang="en-US" sz="1400" b="1" dirty="0">
                <a:solidFill>
                  <a:schemeClr val="tx1"/>
                </a:solidFill>
              </a:endParaRP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endParaRPr lang="en-US" sz="1400" b="1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 rot="184738">
              <a:off x="3665084" y="1307654"/>
              <a:ext cx="1854398" cy="741759"/>
              <a:chOff x="3340002" y="-164570"/>
              <a:chExt cx="1854398" cy="741759"/>
            </a:xfrm>
          </p:grpSpPr>
          <p:sp>
            <p:nvSpPr>
              <p:cNvPr id="20" name="Chevron 19"/>
              <p:cNvSpPr/>
              <p:nvPr/>
            </p:nvSpPr>
            <p:spPr>
              <a:xfrm rot="21007283">
                <a:off x="3340002" y="-164570"/>
                <a:ext cx="1854398" cy="741759"/>
              </a:xfrm>
              <a:prstGeom prst="chevron">
                <a:avLst/>
              </a:prstGeom>
              <a:solidFill>
                <a:srgbClr val="92D05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1" name="Chevron 8"/>
              <p:cNvSpPr/>
              <p:nvPr/>
            </p:nvSpPr>
            <p:spPr>
              <a:xfrm rot="21007283">
                <a:off x="3710882" y="-164570"/>
                <a:ext cx="1112639" cy="74175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011" tIns="29337" rIns="29337" bIns="29337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200" kern="12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5334041" y="1105661"/>
            <a:ext cx="1854398" cy="4898512"/>
            <a:chOff x="5334041" y="1105661"/>
            <a:chExt cx="1854398" cy="4898512"/>
          </a:xfrm>
        </p:grpSpPr>
        <p:sp>
          <p:nvSpPr>
            <p:cNvPr id="9" name="Rectangle 8"/>
            <p:cNvSpPr/>
            <p:nvPr/>
          </p:nvSpPr>
          <p:spPr>
            <a:xfrm>
              <a:off x="5410200" y="2422773"/>
              <a:ext cx="1554480" cy="35814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Advanced feature development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Operating space transition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>
                  <a:solidFill>
                    <a:schemeClr val="tx1"/>
                  </a:solidFill>
                </a:rPr>
                <a:t>Continuous improvement</a:t>
              </a:r>
            </a:p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endParaRPr lang="en-US" sz="1400" b="1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 rot="184738">
              <a:off x="5334041" y="1105661"/>
              <a:ext cx="1854398" cy="741760"/>
              <a:chOff x="4988200" y="-550528"/>
              <a:chExt cx="1854398" cy="741760"/>
            </a:xfrm>
          </p:grpSpPr>
          <p:sp>
            <p:nvSpPr>
              <p:cNvPr id="18" name="Chevron 17"/>
              <p:cNvSpPr/>
              <p:nvPr/>
            </p:nvSpPr>
            <p:spPr>
              <a:xfrm rot="21007283">
                <a:off x="4988200" y="-550527"/>
                <a:ext cx="1854398" cy="741759"/>
              </a:xfrm>
              <a:prstGeom prst="chevron">
                <a:avLst/>
              </a:prstGeom>
              <a:solidFill>
                <a:srgbClr val="00B0F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Chevron 10"/>
              <p:cNvSpPr/>
              <p:nvPr/>
            </p:nvSpPr>
            <p:spPr>
              <a:xfrm rot="21007283">
                <a:off x="5359079" y="-550528"/>
                <a:ext cx="1112639" cy="74175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011" tIns="29337" rIns="29337" bIns="29337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200" kern="1200" dirty="0" smtClean="0">
                    <a:solidFill>
                      <a:schemeClr val="tx1"/>
                    </a:solidFill>
                  </a:rPr>
                  <a:t>Present</a:t>
                </a:r>
                <a:endParaRPr lang="en-US" sz="2200" kern="12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7037447" y="887508"/>
            <a:ext cx="1854398" cy="5116665"/>
            <a:chOff x="7037447" y="887508"/>
            <a:chExt cx="1854398" cy="5116665"/>
          </a:xfrm>
        </p:grpSpPr>
        <p:sp>
          <p:nvSpPr>
            <p:cNvPr id="10" name="Rectangle 9"/>
            <p:cNvSpPr/>
            <p:nvPr/>
          </p:nvSpPr>
          <p:spPr>
            <a:xfrm>
              <a:off x="7086600" y="2205941"/>
              <a:ext cx="1554480" cy="379823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4625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>
                  <a:solidFill>
                    <a:schemeClr val="tx1"/>
                  </a:solidFill>
                </a:rPr>
                <a:t>Winter t</a:t>
              </a:r>
              <a:r>
                <a:rPr lang="en-US" sz="1400" b="1" dirty="0" smtClean="0">
                  <a:solidFill>
                    <a:schemeClr val="tx1"/>
                  </a:solidFill>
                </a:rPr>
                <a:t>est</a:t>
              </a:r>
              <a:endParaRPr lang="en-US" sz="1400" b="1" dirty="0">
                <a:solidFill>
                  <a:schemeClr val="tx1"/>
                </a:solidFill>
              </a:endParaRPr>
            </a:p>
            <a:p>
              <a:pPr marL="174625" lvl="0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Closed loop control strategy finalization</a:t>
              </a:r>
            </a:p>
            <a:p>
              <a:pPr marL="174625" lvl="0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Prepare for commercial offering</a:t>
              </a:r>
            </a:p>
            <a:p>
              <a:pPr marL="174625" lvl="0" indent="-174625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en-US" sz="1400" b="1" dirty="0" smtClean="0">
                  <a:solidFill>
                    <a:schemeClr val="tx1"/>
                  </a:solidFill>
                </a:rPr>
                <a:t>Safety concept</a:t>
              </a:r>
            </a:p>
            <a:p>
              <a:pPr marL="285750" indent="-285750">
                <a:spcAft>
                  <a:spcPts val="600"/>
                </a:spcAft>
                <a:buFont typeface="Arial" pitchFamily="34" charset="0"/>
                <a:buChar char="•"/>
              </a:pPr>
              <a:endParaRPr lang="en-US" sz="1400" b="1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 rot="184738">
              <a:off x="7037447" y="887508"/>
              <a:ext cx="1854398" cy="741759"/>
              <a:chOff x="6677917" y="276820"/>
              <a:chExt cx="1854398" cy="741759"/>
            </a:xfrm>
          </p:grpSpPr>
          <p:sp>
            <p:nvSpPr>
              <p:cNvPr id="16" name="Chevron 15"/>
              <p:cNvSpPr/>
              <p:nvPr/>
            </p:nvSpPr>
            <p:spPr>
              <a:xfrm rot="21007283">
                <a:off x="6677917" y="276820"/>
                <a:ext cx="1854398" cy="741759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7" name="Chevron 12"/>
              <p:cNvSpPr/>
              <p:nvPr/>
            </p:nvSpPr>
            <p:spPr>
              <a:xfrm rot="21007283">
                <a:off x="7048797" y="276820"/>
                <a:ext cx="1112639" cy="74175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011" tIns="29337" rIns="29337" bIns="29337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200" kern="1200" dirty="0" smtClean="0">
                    <a:solidFill>
                      <a:schemeClr val="tx1"/>
                    </a:solidFill>
                  </a:rPr>
                  <a:t>Future</a:t>
                </a:r>
                <a:endParaRPr lang="en-US" sz="2200" kern="12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533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Arrow Connector 42"/>
          <p:cNvCxnSpPr/>
          <p:nvPr/>
        </p:nvCxnSpPr>
        <p:spPr>
          <a:xfrm flipV="1">
            <a:off x="2819400" y="3269073"/>
            <a:ext cx="0" cy="16772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16933"/>
            <a:ext cx="8229600" cy="609600"/>
          </a:xfrm>
        </p:spPr>
        <p:txBody>
          <a:bodyPr/>
          <a:lstStyle/>
          <a:p>
            <a:r>
              <a:rPr lang="en-US" sz="2400" dirty="0" smtClean="0"/>
              <a:t>Closed-Loop Control System Architecture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8EE2308-CC05-4A6C-B7C8-318D148AFAD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1000" y="1981200"/>
            <a:ext cx="1219200" cy="1280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Target Generator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0" y="1974849"/>
            <a:ext cx="1066800" cy="1280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Tracking</a:t>
            </a:r>
          </a:p>
          <a:p>
            <a:pPr algn="ctr"/>
            <a:r>
              <a:rPr lang="en-US" dirty="0" smtClean="0"/>
              <a:t>Control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16842" y="1974848"/>
            <a:ext cx="1066800" cy="128016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Steering System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001000" y="1984809"/>
            <a:ext cx="1066800" cy="128016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Vehicle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495800" y="4572000"/>
            <a:ext cx="1289050" cy="77269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Sensors/</a:t>
            </a:r>
          </a:p>
          <a:p>
            <a:pPr algn="ctr"/>
            <a:r>
              <a:rPr lang="en-US" dirty="0" smtClean="0"/>
              <a:t>Observers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43050" y="2057400"/>
            <a:ext cx="819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Desired</a:t>
            </a:r>
          </a:p>
          <a:p>
            <a:pPr algn="ctr"/>
            <a:r>
              <a:rPr lang="en-US" sz="1200" dirty="0" err="1" smtClean="0"/>
              <a:t>HwTrq</a:t>
            </a:r>
            <a:endParaRPr lang="en-US" sz="1200" dirty="0"/>
          </a:p>
        </p:txBody>
      </p:sp>
      <p:sp>
        <p:nvSpPr>
          <p:cNvPr id="64" name="Rectangle 63"/>
          <p:cNvSpPr/>
          <p:nvPr/>
        </p:nvSpPr>
        <p:spPr>
          <a:xfrm>
            <a:off x="3200400" y="3497624"/>
            <a:ext cx="1790700" cy="6122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Compensation</a:t>
            </a:r>
            <a:endParaRPr lang="en-US" dirty="0"/>
          </a:p>
        </p:txBody>
      </p:sp>
      <p:cxnSp>
        <p:nvCxnSpPr>
          <p:cNvPr id="76" name="Straight Arrow Connector 75"/>
          <p:cNvCxnSpPr>
            <a:endCxn id="7" idx="1"/>
          </p:cNvCxnSpPr>
          <p:nvPr/>
        </p:nvCxnSpPr>
        <p:spPr>
          <a:xfrm>
            <a:off x="1600200" y="2614929"/>
            <a:ext cx="6858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" idx="3"/>
          </p:cNvCxnSpPr>
          <p:nvPr/>
        </p:nvCxnSpPr>
        <p:spPr>
          <a:xfrm>
            <a:off x="3352800" y="2614929"/>
            <a:ext cx="5334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>
            <a:stCxn id="13" idx="1"/>
            <a:endCxn id="6" idx="2"/>
          </p:cNvCxnSpPr>
          <p:nvPr/>
        </p:nvCxnSpPr>
        <p:spPr>
          <a:xfrm rot="10800000">
            <a:off x="990600" y="3261360"/>
            <a:ext cx="3505200" cy="1696988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4848726" y="2016893"/>
            <a:ext cx="1066800" cy="1280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Motor</a:t>
            </a:r>
          </a:p>
          <a:p>
            <a:pPr algn="ctr"/>
            <a:r>
              <a:rPr lang="en-US" dirty="0" smtClean="0"/>
              <a:t>Control</a:t>
            </a:r>
            <a:endParaRPr lang="en-US" dirty="0"/>
          </a:p>
        </p:txBody>
      </p:sp>
      <p:cxnSp>
        <p:nvCxnSpPr>
          <p:cNvPr id="99" name="Elbow Connector 98"/>
          <p:cNvCxnSpPr/>
          <p:nvPr/>
        </p:nvCxnSpPr>
        <p:spPr>
          <a:xfrm rot="10800000" flipV="1">
            <a:off x="5784850" y="3150491"/>
            <a:ext cx="1698792" cy="1650108"/>
          </a:xfrm>
          <a:prstGeom prst="bentConnector3">
            <a:avLst>
              <a:gd name="adj1" fmla="val 273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/>
          <p:cNvCxnSpPr>
            <a:stCxn id="9" idx="2"/>
          </p:cNvCxnSpPr>
          <p:nvPr/>
        </p:nvCxnSpPr>
        <p:spPr>
          <a:xfrm rot="5400000">
            <a:off x="6239407" y="2810412"/>
            <a:ext cx="1840437" cy="274955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/>
          <p:cNvGrpSpPr/>
          <p:nvPr/>
        </p:nvGrpSpPr>
        <p:grpSpPr>
          <a:xfrm>
            <a:off x="3917950" y="2422358"/>
            <a:ext cx="381000" cy="381000"/>
            <a:chOff x="4343400" y="2362200"/>
            <a:chExt cx="381000" cy="381000"/>
          </a:xfrm>
        </p:grpSpPr>
        <p:sp>
          <p:nvSpPr>
            <p:cNvPr id="121" name="Oval 120"/>
            <p:cNvSpPr/>
            <p:nvPr/>
          </p:nvSpPr>
          <p:spPr>
            <a:xfrm>
              <a:off x="4343400" y="2362200"/>
              <a:ext cx="381000" cy="381000"/>
            </a:xfrm>
            <a:prstGeom prst="ellipse">
              <a:avLst/>
            </a:prstGeom>
            <a:gradFill>
              <a:gsLst>
                <a:gs pos="0">
                  <a:schemeClr val="accent2">
                    <a:shade val="51000"/>
                    <a:satMod val="130000"/>
                  </a:schemeClr>
                </a:gs>
                <a:gs pos="64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4391526" y="2370221"/>
              <a:ext cx="2927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chemeClr val="bg1"/>
                  </a:solidFill>
                </a:rPr>
                <a:t>+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5" name="Straight Arrow Connector 124"/>
          <p:cNvCxnSpPr>
            <a:endCxn id="121" idx="4"/>
          </p:cNvCxnSpPr>
          <p:nvPr/>
        </p:nvCxnSpPr>
        <p:spPr>
          <a:xfrm flipV="1">
            <a:off x="4108450" y="2803358"/>
            <a:ext cx="0" cy="69426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>
            <a:off x="4315326" y="2614929"/>
            <a:ext cx="5334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>
            <a:off x="5905499" y="2612858"/>
            <a:ext cx="5334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>
            <a:off x="7483642" y="2612858"/>
            <a:ext cx="5334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 flipV="1">
            <a:off x="4112460" y="4126033"/>
            <a:ext cx="0" cy="83231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2286000" y="3255010"/>
            <a:ext cx="2046370" cy="2219923"/>
            <a:chOff x="881952" y="2331450"/>
            <a:chExt cx="2642316" cy="2219923"/>
          </a:xfrm>
        </p:grpSpPr>
        <p:sp>
          <p:nvSpPr>
            <p:cNvPr id="35" name="Content Placeholder 2"/>
            <p:cNvSpPr txBox="1">
              <a:spLocks/>
            </p:cNvSpPr>
            <p:nvPr/>
          </p:nvSpPr>
          <p:spPr bwMode="auto">
            <a:xfrm>
              <a:off x="1075281" y="3656907"/>
              <a:ext cx="2448987" cy="894466"/>
            </a:xfrm>
            <a:prstGeom prst="roundRect">
              <a:avLst/>
            </a:prstGeom>
            <a:ln>
              <a:headEnd/>
              <a:tailEnd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31775" indent="-23177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1500" indent="-22542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Symbol" pitchFamily="18" charset="2"/>
                <a:buChar char="-"/>
                <a:defRPr sz="2000" b="1">
                  <a:solidFill>
                    <a:schemeClr val="tx1"/>
                  </a:solidFill>
                  <a:latin typeface="+mn-lt"/>
                </a:defRPr>
              </a:lvl2pPr>
              <a:lvl3pPr marL="9747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"/>
                <a:defRPr>
                  <a:solidFill>
                    <a:schemeClr val="tx1"/>
                  </a:solidFill>
                  <a:latin typeface="+mn-lt"/>
                </a:defRPr>
              </a:lvl3pPr>
              <a:lvl4pPr marL="13176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17160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5pPr>
              <a:lvl6pPr marL="21732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6pPr>
              <a:lvl7pPr marL="26304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7pPr>
              <a:lvl8pPr marL="30876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8pPr>
              <a:lvl9pPr marL="35448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sz="2000" dirty="0"/>
                <a:t>Bandwidth</a:t>
              </a:r>
            </a:p>
            <a:p>
              <a:r>
                <a:rPr lang="en-US" sz="2000" dirty="0" smtClean="0"/>
                <a:t>Stability</a:t>
              </a:r>
              <a:endParaRPr lang="en-US" sz="2000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 flipH="1" flipV="1">
              <a:off x="881952" y="2331450"/>
              <a:ext cx="193329" cy="139319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2259427" y="2341410"/>
              <a:ext cx="1221689" cy="138323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5784851" y="4111475"/>
            <a:ext cx="3282949" cy="1679726"/>
            <a:chOff x="-85561" y="2885908"/>
            <a:chExt cx="4053163" cy="1679726"/>
          </a:xfrm>
        </p:grpSpPr>
        <p:sp>
          <p:nvSpPr>
            <p:cNvPr id="72" name="Content Placeholder 2"/>
            <p:cNvSpPr txBox="1">
              <a:spLocks/>
            </p:cNvSpPr>
            <p:nvPr/>
          </p:nvSpPr>
          <p:spPr bwMode="auto">
            <a:xfrm>
              <a:off x="963110" y="2885908"/>
              <a:ext cx="3004492" cy="1679726"/>
            </a:xfrm>
            <a:prstGeom prst="roundRect">
              <a:avLst/>
            </a:prstGeom>
            <a:ln>
              <a:headEnd/>
              <a:tailEnd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31775" indent="-23177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1500" indent="-22542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Symbol" pitchFamily="18" charset="2"/>
                <a:buChar char="-"/>
                <a:defRPr sz="2000" b="1">
                  <a:solidFill>
                    <a:schemeClr val="tx1"/>
                  </a:solidFill>
                  <a:latin typeface="+mn-lt"/>
                </a:defRPr>
              </a:lvl2pPr>
              <a:lvl3pPr marL="9747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"/>
                <a:defRPr>
                  <a:solidFill>
                    <a:schemeClr val="tx1"/>
                  </a:solidFill>
                  <a:latin typeface="+mn-lt"/>
                </a:defRPr>
              </a:lvl3pPr>
              <a:lvl4pPr marL="13176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17160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5pPr>
              <a:lvl6pPr marL="21732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6pPr>
              <a:lvl7pPr marL="26304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7pPr>
              <a:lvl8pPr marL="30876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8pPr>
              <a:lvl9pPr marL="35448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sz="2000" dirty="0"/>
                <a:t>Steering State</a:t>
              </a:r>
            </a:p>
            <a:p>
              <a:r>
                <a:rPr lang="en-US" sz="2000" dirty="0"/>
                <a:t>Rack Force</a:t>
              </a:r>
            </a:p>
            <a:p>
              <a:r>
                <a:rPr lang="en-US" sz="2000" dirty="0"/>
                <a:t>Vehicle State</a:t>
              </a:r>
            </a:p>
            <a:p>
              <a:r>
                <a:rPr lang="en-US" sz="2000" dirty="0" smtClean="0"/>
                <a:t>Surface</a:t>
              </a:r>
              <a:endParaRPr lang="en-US" sz="2000" dirty="0">
                <a:latin typeface="Symbol" pitchFamily="18" charset="2"/>
              </a:endParaRPr>
            </a:p>
          </p:txBody>
        </p:sp>
        <p:cxnSp>
          <p:nvCxnSpPr>
            <p:cNvPr id="73" name="Straight Connector 72"/>
            <p:cNvCxnSpPr/>
            <p:nvPr/>
          </p:nvCxnSpPr>
          <p:spPr>
            <a:xfrm flipH="1" flipV="1">
              <a:off x="-85561" y="4188485"/>
              <a:ext cx="1230844" cy="37714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-85557" y="2959620"/>
              <a:ext cx="1230840" cy="45616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2851150" y="303667"/>
            <a:ext cx="2895600" cy="3205147"/>
            <a:chOff x="2851150" y="303667"/>
            <a:chExt cx="2895600" cy="3205147"/>
          </a:xfrm>
        </p:grpSpPr>
        <p:sp>
          <p:nvSpPr>
            <p:cNvPr id="47" name="Content Placeholder 2"/>
            <p:cNvSpPr txBox="1">
              <a:spLocks/>
            </p:cNvSpPr>
            <p:nvPr/>
          </p:nvSpPr>
          <p:spPr bwMode="auto">
            <a:xfrm>
              <a:off x="2851150" y="303667"/>
              <a:ext cx="2895600" cy="1984566"/>
            </a:xfrm>
            <a:prstGeom prst="roundRect">
              <a:avLst/>
            </a:prstGeom>
            <a:ln>
              <a:headEnd/>
              <a:tailEnd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31775" indent="-23177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1500" indent="-22542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Symbol" pitchFamily="18" charset="2"/>
                <a:buChar char="-"/>
                <a:defRPr sz="2000" b="1">
                  <a:solidFill>
                    <a:schemeClr val="tx1"/>
                  </a:solidFill>
                  <a:latin typeface="+mn-lt"/>
                </a:defRPr>
              </a:lvl2pPr>
              <a:lvl3pPr marL="9747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"/>
                <a:defRPr>
                  <a:solidFill>
                    <a:schemeClr val="tx1"/>
                  </a:solidFill>
                  <a:latin typeface="+mn-lt"/>
                </a:defRPr>
              </a:lvl3pPr>
              <a:lvl4pPr marL="13176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17160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5pPr>
              <a:lvl6pPr marL="21732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6pPr>
              <a:lvl7pPr marL="26304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7pPr>
              <a:lvl8pPr marL="30876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8pPr>
              <a:lvl9pPr marL="35448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sz="2000" dirty="0"/>
                <a:t>Friction</a:t>
              </a:r>
            </a:p>
            <a:p>
              <a:r>
                <a:rPr lang="en-US" sz="2000" dirty="0"/>
                <a:t>Inertia</a:t>
              </a:r>
            </a:p>
            <a:p>
              <a:r>
                <a:rPr lang="en-US" sz="2000" dirty="0"/>
                <a:t>Road Wheel Imbalance</a:t>
              </a:r>
            </a:p>
            <a:p>
              <a:r>
                <a:rPr lang="en-US" sz="2000" dirty="0"/>
                <a:t>Vehicle Lead/Pull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2895600" y="2133600"/>
              <a:ext cx="2743200" cy="1375214"/>
              <a:chOff x="2895600" y="2133600"/>
              <a:chExt cx="2743200" cy="1375214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 flipV="1">
                <a:off x="4991100" y="2209800"/>
                <a:ext cx="647700" cy="1299014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H="1" flipV="1">
                <a:off x="2895600" y="2133600"/>
                <a:ext cx="304800" cy="1364026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/>
          <p:cNvGrpSpPr/>
          <p:nvPr/>
        </p:nvGrpSpPr>
        <p:grpSpPr>
          <a:xfrm>
            <a:off x="152400" y="3264969"/>
            <a:ext cx="1981200" cy="2526231"/>
            <a:chOff x="152400" y="3264969"/>
            <a:chExt cx="1800225" cy="2526231"/>
          </a:xfrm>
        </p:grpSpPr>
        <p:grpSp>
          <p:nvGrpSpPr>
            <p:cNvPr id="14" name="Group 13"/>
            <p:cNvGrpSpPr/>
            <p:nvPr/>
          </p:nvGrpSpPr>
          <p:grpSpPr>
            <a:xfrm>
              <a:off x="152400" y="3264969"/>
              <a:ext cx="1752601" cy="1078431"/>
              <a:chOff x="152400" y="3264969"/>
              <a:chExt cx="1752601" cy="1078431"/>
            </a:xfrm>
          </p:grpSpPr>
          <p:cxnSp>
            <p:nvCxnSpPr>
              <p:cNvPr id="10" name="Straight Connector 9"/>
              <p:cNvCxnSpPr/>
              <p:nvPr/>
            </p:nvCxnSpPr>
            <p:spPr>
              <a:xfrm flipV="1">
                <a:off x="152400" y="3264969"/>
                <a:ext cx="228600" cy="1078431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H="1" flipV="1">
                <a:off x="1467949" y="3264970"/>
                <a:ext cx="437052" cy="92021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Content Placeholder 2"/>
            <p:cNvSpPr txBox="1">
              <a:spLocks/>
            </p:cNvSpPr>
            <p:nvPr/>
          </p:nvSpPr>
          <p:spPr bwMode="auto">
            <a:xfrm>
              <a:off x="152400" y="4101387"/>
              <a:ext cx="1800225" cy="1689813"/>
            </a:xfrm>
            <a:prstGeom prst="roundRect">
              <a:avLst/>
            </a:prstGeom>
            <a:ln>
              <a:headEnd/>
              <a:tailEnd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31775" indent="-23177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1500" indent="-225425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Symbol" pitchFamily="18" charset="2"/>
                <a:buChar char="-"/>
                <a:defRPr sz="2000" b="1">
                  <a:solidFill>
                    <a:schemeClr val="tx1"/>
                  </a:solidFill>
                  <a:latin typeface="+mn-lt"/>
                </a:defRPr>
              </a:lvl2pPr>
              <a:lvl3pPr marL="9747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"/>
                <a:defRPr>
                  <a:solidFill>
                    <a:schemeClr val="tx1"/>
                  </a:solidFill>
                  <a:latin typeface="+mn-lt"/>
                </a:defRPr>
              </a:lvl3pPr>
              <a:lvl4pPr marL="1317625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17160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5pPr>
              <a:lvl6pPr marL="21732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6pPr>
              <a:lvl7pPr marL="26304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7pPr>
              <a:lvl8pPr marL="30876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8pPr>
              <a:lvl9pPr marL="3544888" indent="-228600" algn="l" defTabSz="738188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E31937"/>
                </a:buClr>
                <a:buSzPct val="75000"/>
                <a:buChar char="–"/>
                <a:defRPr sz="14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sz="2000" dirty="0" smtClean="0"/>
                <a:t>Effort</a:t>
              </a:r>
            </a:p>
            <a:p>
              <a:r>
                <a:rPr lang="en-US" sz="2000" dirty="0" smtClean="0"/>
                <a:t>Damping</a:t>
              </a:r>
            </a:p>
            <a:p>
              <a:r>
                <a:rPr lang="en-US" sz="2000" dirty="0" smtClean="0"/>
                <a:t>Hysteresis</a:t>
              </a:r>
            </a:p>
            <a:p>
              <a:r>
                <a:rPr lang="en-US" sz="2000" dirty="0" smtClean="0"/>
                <a:t>Return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9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914400"/>
          </a:xfrm>
        </p:spPr>
        <p:txBody>
          <a:bodyPr>
            <a:noAutofit/>
          </a:bodyPr>
          <a:lstStyle/>
          <a:p>
            <a:r>
              <a:rPr lang="en-US" sz="3600" dirty="0" smtClean="0"/>
              <a:t>Closed </a:t>
            </a:r>
            <a:r>
              <a:rPr lang="en-US" sz="3600" dirty="0"/>
              <a:t>Loop Steering C</a:t>
            </a:r>
            <a:r>
              <a:rPr lang="en-US" sz="3600" dirty="0" smtClean="0"/>
              <a:t>ontrol</a:t>
            </a:r>
            <a:endParaRPr lang="en-US" sz="3600" dirty="0"/>
          </a:p>
        </p:txBody>
      </p:sp>
      <p:pic>
        <p:nvPicPr>
          <p:cNvPr id="7" name="Shape 106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1215656"/>
            <a:ext cx="7924800" cy="47279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26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855"/>
            <a:ext cx="8229600" cy="519545"/>
          </a:xfrm>
        </p:spPr>
        <p:txBody>
          <a:bodyPr/>
          <a:lstStyle/>
          <a:p>
            <a:r>
              <a:rPr lang="en-US" sz="2400" dirty="0"/>
              <a:t>MRA Function Implementation </a:t>
            </a:r>
            <a:r>
              <a:rPr lang="en-US" sz="2400" dirty="0" smtClean="0"/>
              <a:t>Status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915916-9972-4921-9E51-B5531CF43FA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38200"/>
            <a:ext cx="7613650" cy="5533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73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915916-9972-4921-9E51-B5531CF43FA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0" y="13855"/>
            <a:ext cx="8229600" cy="51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E31937"/>
                </a:solidFill>
                <a:latin typeface="Arial" charset="0"/>
              </a:defRPr>
            </a:lvl9pPr>
          </a:lstStyle>
          <a:p>
            <a:r>
              <a:rPr lang="en-US" sz="2400" dirty="0" smtClean="0"/>
              <a:t>MRA Closed Loop Sub-functions 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10" y="685800"/>
            <a:ext cx="7498080" cy="581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620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24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High Ratio CEPS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09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Higher Ratio (31:1) A/M</a:t>
            </a:r>
            <a:endParaRPr lang="en-US" dirty="0"/>
          </a:p>
        </p:txBody>
      </p:sp>
      <p:pic>
        <p:nvPicPr>
          <p:cNvPr id="1030" name="Picture 6" descr="C:\Users\mzrg22\Desktop\Future Engineering Projects\Low output CEPS March 2014\Testing\31 to 1\IMG_20150225_141227_029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5" r="13248"/>
          <a:stretch/>
        </p:blipFill>
        <p:spPr bwMode="auto">
          <a:xfrm>
            <a:off x="1916264" y="1447800"/>
            <a:ext cx="4898004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84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Status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smtClean="0"/>
              <a:t>31:1 First build complete</a:t>
            </a:r>
          </a:p>
          <a:p>
            <a:pPr lvl="1"/>
            <a:r>
              <a:rPr lang="en-US" dirty="0" smtClean="0"/>
              <a:t>CMM data good after 2 iterations of gear cutting for over-ball adjustments</a:t>
            </a:r>
          </a:p>
          <a:p>
            <a:pPr lvl="1"/>
            <a:r>
              <a:rPr lang="en-US" dirty="0" smtClean="0"/>
              <a:t>Assembly run in at 60 Nm</a:t>
            </a:r>
          </a:p>
          <a:p>
            <a:pPr lvl="1"/>
            <a:r>
              <a:rPr lang="en-US" dirty="0" err="1" smtClean="0"/>
              <a:t>Backdrive</a:t>
            </a:r>
            <a:r>
              <a:rPr lang="en-US" dirty="0" smtClean="0"/>
              <a:t> friction set to ~1.2 N-m average</a:t>
            </a:r>
          </a:p>
          <a:p>
            <a:pPr lvl="2"/>
            <a:r>
              <a:rPr lang="en-US" dirty="0" smtClean="0"/>
              <a:t>Once per rev similar to </a:t>
            </a:r>
            <a:r>
              <a:rPr lang="en-US" dirty="0" err="1" smtClean="0"/>
              <a:t>Haitec</a:t>
            </a:r>
            <a:r>
              <a:rPr lang="en-US" dirty="0" smtClean="0"/>
              <a:t> production (see following slides)</a:t>
            </a:r>
          </a:p>
          <a:p>
            <a:pPr lvl="1"/>
            <a:r>
              <a:rPr lang="en-US" dirty="0" smtClean="0"/>
              <a:t>Contact pattern looks good visually – measurement data pending (see following slides)</a:t>
            </a:r>
          </a:p>
          <a:p>
            <a:pPr lvl="1"/>
            <a:r>
              <a:rPr lang="en-US" dirty="0" smtClean="0"/>
              <a:t>Marginal Efficiency average measured ~87.5% (see following slides)</a:t>
            </a:r>
          </a:p>
          <a:p>
            <a:pPr lvl="1"/>
            <a:r>
              <a:rPr lang="en-US" dirty="0" smtClean="0"/>
              <a:t>First running noise test set for Monday 2Mr15</a:t>
            </a:r>
          </a:p>
          <a:p>
            <a:r>
              <a:rPr lang="en-US" dirty="0" smtClean="0"/>
              <a:t>28:1 and 30:1 first cut gears are being inspected on CMM</a:t>
            </a:r>
          </a:p>
          <a:p>
            <a:pPr lvl="1"/>
            <a:r>
              <a:rPr lang="en-US" dirty="0" smtClean="0"/>
              <a:t>Adjustments may be required</a:t>
            </a:r>
            <a:endParaRPr lang="en-US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457200" y="1066800"/>
            <a:ext cx="8229600" cy="4419600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85000" lnSpcReduction="10000"/>
          </a:bodyPr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</a:pPr>
            <a:r>
              <a:rPr lang="en-US" sz="2000" dirty="0" smtClean="0"/>
              <a:t>31:1 First build complete</a:t>
            </a:r>
          </a:p>
          <a:p>
            <a:pPr marL="742950" lvl="1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smtClean="0"/>
              <a:t>CMM data good after 2 iterations of gear cutting for over-ball adjustments</a:t>
            </a:r>
          </a:p>
          <a:p>
            <a:pPr marL="742950" lvl="1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smtClean="0"/>
              <a:t>Assembly run in at 60 Nm</a:t>
            </a:r>
          </a:p>
          <a:p>
            <a:pPr marL="742950" lvl="1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err="1" smtClean="0"/>
              <a:t>Backdrive</a:t>
            </a:r>
            <a:r>
              <a:rPr lang="en-US" sz="2000" dirty="0" smtClean="0"/>
              <a:t> friction set to ~1.2 N-m average</a:t>
            </a:r>
          </a:p>
          <a:p>
            <a:pPr marL="1200150" lvl="2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smtClean="0"/>
              <a:t>Once per rev similar to </a:t>
            </a:r>
            <a:r>
              <a:rPr lang="en-US" sz="2000" dirty="0" err="1" smtClean="0"/>
              <a:t>Haitec</a:t>
            </a:r>
            <a:r>
              <a:rPr lang="en-US" sz="2000" dirty="0" smtClean="0"/>
              <a:t> production (see following slides)</a:t>
            </a:r>
          </a:p>
          <a:p>
            <a:pPr marL="742950" lvl="1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smtClean="0"/>
              <a:t>Contact pattern looks good visually – measurement data pending (see following slides)</a:t>
            </a:r>
          </a:p>
          <a:p>
            <a:pPr marL="742950" lvl="1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smtClean="0"/>
              <a:t>Marginal Efficiency average measured ~87.5% (see following slides)</a:t>
            </a:r>
          </a:p>
          <a:p>
            <a:pPr marL="742950" lvl="1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smtClean="0"/>
              <a:t>First running noise test set for Monday 02MR15  28:1 and 30:1 first cut gears are being inspected on CMM</a:t>
            </a:r>
          </a:p>
          <a:p>
            <a:pPr marL="742950" lvl="1" indent="-285750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US" sz="2000" dirty="0" smtClean="0"/>
              <a:t>Adjustments may be required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368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31:1 </a:t>
            </a:r>
            <a:r>
              <a:rPr lang="en-US" dirty="0" err="1" smtClean="0"/>
              <a:t>Backdrive</a:t>
            </a:r>
            <a:r>
              <a:rPr lang="en-US" dirty="0" smtClean="0"/>
              <a:t> Friction Data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5730780" cy="4596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882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31:1 Contact Pattern Pictures</a:t>
            </a:r>
            <a:endParaRPr lang="en-US" dirty="0"/>
          </a:p>
        </p:txBody>
      </p:sp>
      <p:pic>
        <p:nvPicPr>
          <p:cNvPr id="3074" name="Picture 2" descr="C:\Users\mzrg22\Desktop\Future Engineering Projects\Low output CEPS March 2014\Testing\31 to 1\15_047-01 FLANK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3851039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mzrg22\Desktop\Future Engineering Projects\Low output CEPS March 2014\Testing\31 to 1\15_047-01 FLANK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56961"/>
            <a:ext cx="3814313" cy="292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43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31:1 Efficiency Data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18989" y="252453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New 31:1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91000" y="5581816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 Production Gamma 22:1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038600"/>
            <a:ext cx="658494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ight Arrow 5"/>
          <p:cNvSpPr/>
          <p:nvPr/>
        </p:nvSpPr>
        <p:spPr>
          <a:xfrm rot="10800000">
            <a:off x="5600700" y="2517621"/>
            <a:ext cx="533400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3248169">
            <a:off x="3692368" y="5386345"/>
            <a:ext cx="533400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22524"/>
            <a:ext cx="4904538" cy="1706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47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30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Motor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5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64007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PP-124: Cost Optimized Motor Design (IPM/skew/pole shape/WIH)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Develop Cost Optimized Motor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(10)</a:t>
            </a:r>
            <a:endParaRPr lang="en-US" sz="20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Reduce Material cost in Motor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Determine if Larger OD Rotor is a Cost Advantage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Determine if Higher Grade Magnets </a:t>
            </a:r>
            <a:r>
              <a:rPr lang="en-US" sz="1600" dirty="0" err="1">
                <a:solidFill>
                  <a:schemeClr val="dk1"/>
                </a:solidFill>
              </a:rPr>
              <a:t>vs</a:t>
            </a:r>
            <a:r>
              <a:rPr lang="en-US" sz="1600" dirty="0">
                <a:solidFill>
                  <a:schemeClr val="dk1"/>
                </a:solidFill>
              </a:rPr>
              <a:t> cost is a feasible option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Determine which stator / winding  design is optimal for cost</a:t>
            </a:r>
          </a:p>
          <a:p>
            <a:pPr marL="688975" marR="0" lvl="1" indent="-37147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Determine if shape of magnet has cost impact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 err="1" smtClean="0">
                <a:solidFill>
                  <a:schemeClr val="dk1"/>
                </a:solidFill>
              </a:rPr>
              <a:t>Fiasa</a:t>
            </a:r>
            <a:r>
              <a:rPr lang="en-US" sz="1600" dirty="0" smtClean="0">
                <a:solidFill>
                  <a:schemeClr val="dk1"/>
                </a:solidFill>
              </a:rPr>
              <a:t> &amp; PSA BMPV</a:t>
            </a:r>
            <a:r>
              <a:rPr lang="en-US" sz="16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00" dirty="0">
                <a:solidFill>
                  <a:schemeClr val="dk1"/>
                </a:solidFill>
              </a:rPr>
              <a:t>2016</a:t>
            </a:r>
            <a:r>
              <a:rPr lang="en-US" sz="16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SOP)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Rakib Islam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Bryan Williams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Ken Webber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Steve Collier-Hallman</a:t>
            </a:r>
          </a:p>
          <a:p>
            <a:pPr marL="688975" marR="0" lvl="1" indent="-37147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John </a:t>
            </a:r>
            <a:r>
              <a:rPr lang="en-US" sz="1600" dirty="0" err="1">
                <a:solidFill>
                  <a:schemeClr val="dk1"/>
                </a:solidFill>
              </a:rPr>
              <a:t>Redwine</a:t>
            </a:r>
            <a:endParaRPr lang="en-US" sz="1600" dirty="0">
              <a:solidFill>
                <a:schemeClr val="dk1"/>
              </a:solidFill>
            </a:endParaRPr>
          </a:p>
        </p:txBody>
      </p:sp>
      <p:pic>
        <p:nvPicPr>
          <p:cNvPr id="100" name="Shape 100"/>
          <p:cNvPicPr preferRelativeResize="0"/>
          <p:nvPr/>
        </p:nvPicPr>
        <p:blipFill rotWithShape="1">
          <a:blip r:embed="rId3">
            <a:alphaModFix/>
          </a:blip>
          <a:srcRect l="36834" t="26923" r="32950" b="19972"/>
          <a:stretch/>
        </p:blipFill>
        <p:spPr>
          <a:xfrm>
            <a:off x="5990744" y="3431951"/>
            <a:ext cx="2696056" cy="26640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053317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89000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Cost Motor Model and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Cogging </a:t>
            </a:r>
            <a:r>
              <a:rPr lang="en-US" sz="2800" b="1" dirty="0" smtClean="0">
                <a:solidFill>
                  <a:srgbClr val="C00000"/>
                </a:solidFill>
              </a:rPr>
              <a:t>Cancellation</a:t>
            </a:r>
            <a:endParaRPr lang="en-US" dirty="0" smtClean="0"/>
          </a:p>
        </p:txBody>
      </p:sp>
      <p:sp>
        <p:nvSpPr>
          <p:cNvPr id="9219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458730" y="6608763"/>
            <a:ext cx="685271" cy="22860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07764D5-4AED-428B-B80A-C629868A5755}" type="slidenum">
              <a:rPr lang="en-US" smtClean="0"/>
              <a:pPr eaLnBrk="1" hangingPunct="1"/>
              <a:t>32</a:t>
            </a:fld>
            <a:endParaRPr lang="en-US" smtClean="0"/>
          </a:p>
        </p:txBody>
      </p:sp>
      <p:graphicFrame>
        <p:nvGraphicFramePr>
          <p:cNvPr id="9221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697682"/>
              </p:ext>
            </p:extLst>
          </p:nvPr>
        </p:nvGraphicFramePr>
        <p:xfrm>
          <a:off x="4953000" y="3157537"/>
          <a:ext cx="4017434" cy="263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3" imgW="8254699" imgH="5206435" progId="Excel.Chart.8">
                  <p:embed/>
                </p:oleObj>
              </mc:Choice>
              <mc:Fallback>
                <p:oleObj r:id="rId3" imgW="8254699" imgH="5206435" progId="Excel.Char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157537"/>
                        <a:ext cx="4017434" cy="2633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chart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041400"/>
            <a:ext cx="3213100" cy="1472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val 9"/>
          <p:cNvSpPr/>
          <p:nvPr/>
        </p:nvSpPr>
        <p:spPr>
          <a:xfrm>
            <a:off x="6980904" y="4267200"/>
            <a:ext cx="304800" cy="228600"/>
          </a:xfrm>
          <a:prstGeom prst="ellipse">
            <a:avLst/>
          </a:prstGeom>
          <a:noFill/>
          <a:ln>
            <a:solidFill>
              <a:srgbClr val="E9020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268647" y="5867400"/>
            <a:ext cx="3494353" cy="215444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00" dirty="0"/>
              <a:t>Note:  Needle, SPM 2 Step R1=R2 Assumes 0.25 Volt Cancellation 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28" y="1676400"/>
            <a:ext cx="5181572" cy="3115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0" y="152400"/>
            <a:ext cx="338554" cy="3599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vert270"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 dirty="0" smtClean="0"/>
              <a:t>Cogging Torque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8779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64007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i="0" u="none" strike="noStrike" cap="none" baseline="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PP-126: Heat Management for Motor</a:t>
            </a:r>
          </a:p>
        </p:txBody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152400" y="6858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31775" marR="0" lvl="0" indent="-231775" algn="l" rtl="0"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</a:p>
          <a:p>
            <a:pPr marL="571500" marR="0" lvl="1" indent="-228600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Reduce Motor generated heat from Segment/Needle Stator designs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</a:t>
            </a:r>
            <a:r>
              <a:rPr lang="en-US" sz="20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dirty="0" smtClean="0">
                <a:solidFill>
                  <a:schemeClr val="dk1"/>
                </a:solidFill>
              </a:rPr>
              <a:t>9</a:t>
            </a: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Segment and Needle Wind Motors with plastic Insulators generate more heat than Shed Wound motors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Determine if gap filler can be added prior to winding to get direct heat transfer to stator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Determine if thermally conductive coatings (</a:t>
            </a:r>
            <a:r>
              <a:rPr lang="en-US" sz="1600" dirty="0" err="1">
                <a:solidFill>
                  <a:schemeClr val="dk1"/>
                </a:solidFill>
              </a:rPr>
              <a:t>Bergquist</a:t>
            </a:r>
            <a:r>
              <a:rPr lang="en-US" sz="1600" dirty="0">
                <a:solidFill>
                  <a:schemeClr val="dk1"/>
                </a:solidFill>
              </a:rPr>
              <a:t> epoxy coat) on stator instead of plastic insulator reduces motor thermals.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Determine which stator / winding  design is optimal for thermals</a:t>
            </a: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 err="1" smtClean="0">
                <a:solidFill>
                  <a:schemeClr val="dk1"/>
                </a:solidFill>
              </a:rPr>
              <a:t>Fiasa</a:t>
            </a:r>
            <a:r>
              <a:rPr lang="en-US" sz="1600" dirty="0" smtClean="0">
                <a:solidFill>
                  <a:schemeClr val="dk1"/>
                </a:solidFill>
              </a:rPr>
              <a:t> &amp; PSA BMPV </a:t>
            </a:r>
            <a:r>
              <a:rPr lang="en-US" sz="16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(SOP - </a:t>
            </a:r>
            <a:r>
              <a:rPr lang="en-US" sz="1600" dirty="0" smtClean="0">
                <a:solidFill>
                  <a:schemeClr val="dk1"/>
                </a:solidFill>
              </a:rPr>
              <a:t>2016</a:t>
            </a:r>
            <a:r>
              <a:rPr lang="en-US" sz="1600" b="0" i="0" u="none" strike="noStrike" cap="none" baseline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16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50" marR="0" lvl="0" indent="-349250" algn="l" rtl="0">
              <a:spcBef>
                <a:spcPts val="40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■"/>
            </a:pPr>
            <a:r>
              <a:rPr lang="en-US" sz="2000" b="0" i="0" u="none" strike="noStrike" cap="none" baseline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Members/Customers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Rakib Islam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Bryan Williams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Ken Webber</a:t>
            </a:r>
          </a:p>
          <a:p>
            <a:pPr marL="688975" marR="0" lvl="1" indent="-346075" algn="l" rtl="0">
              <a:spcBef>
                <a:spcPts val="320"/>
              </a:spcBef>
              <a:spcAft>
                <a:spcPts val="0"/>
              </a:spcAft>
              <a:buClr>
                <a:srgbClr val="E31937"/>
              </a:buClr>
              <a:buSzPct val="75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Joanne </a:t>
            </a:r>
            <a:r>
              <a:rPr lang="en-US" sz="1600" dirty="0" err="1">
                <a:solidFill>
                  <a:schemeClr val="dk1"/>
                </a:solidFill>
              </a:rPr>
              <a:t>Tersigni</a:t>
            </a:r>
            <a:endParaRPr lang="en-US" sz="1600" dirty="0">
              <a:solidFill>
                <a:schemeClr val="dk1"/>
              </a:solidFill>
            </a:endParaRPr>
          </a:p>
          <a:p>
            <a:pPr marL="688975" marR="0" lvl="1" indent="-37147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−"/>
            </a:pPr>
            <a:r>
              <a:rPr lang="en-US" sz="1600" dirty="0">
                <a:solidFill>
                  <a:schemeClr val="dk1"/>
                </a:solidFill>
              </a:rPr>
              <a:t>Julie </a:t>
            </a:r>
            <a:r>
              <a:rPr lang="en-US" sz="1600" dirty="0" err="1">
                <a:solidFill>
                  <a:schemeClr val="dk1"/>
                </a:solidFill>
              </a:rPr>
              <a:t>Kleinau</a:t>
            </a:r>
            <a:endParaRPr lang="en-US" sz="1600" dirty="0">
              <a:solidFill>
                <a:schemeClr val="dk1"/>
              </a:solidFill>
            </a:endParaRPr>
          </a:p>
        </p:txBody>
      </p:sp>
      <p:pic>
        <p:nvPicPr>
          <p:cNvPr id="107" name="Shape 107"/>
          <p:cNvPicPr preferRelativeResize="0"/>
          <p:nvPr/>
        </p:nvPicPr>
        <p:blipFill rotWithShape="1">
          <a:blip r:embed="rId3">
            <a:alphaModFix/>
          </a:blip>
          <a:srcRect l="38157" t="28771" r="18707" b="19740"/>
          <a:stretch/>
        </p:blipFill>
        <p:spPr>
          <a:xfrm>
            <a:off x="4952175" y="4150250"/>
            <a:ext cx="3721625" cy="2497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760134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xteer External">
  <a:themeElements>
    <a:clrScheme name="Nexteer">
      <a:dk1>
        <a:sysClr val="windowText" lastClr="000000"/>
      </a:dk1>
      <a:lt1>
        <a:sysClr val="window" lastClr="FFFFFF"/>
      </a:lt1>
      <a:dk2>
        <a:srgbClr val="C3092B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50000"/>
          </a:schemeClr>
        </a:solidFill>
        <a:ln w="9525">
          <a:solidFill>
            <a:schemeClr val="tx1"/>
          </a:solidFill>
          <a:round/>
          <a:headEnd/>
          <a:tailEnd/>
        </a:ln>
        <a:effectLst>
          <a:prstShdw prst="shdw17" dist="17961" dir="2700000">
            <a:srgbClr val="7A0000"/>
          </a:prstShdw>
        </a:effectLst>
      </a:spPr>
      <a:bodyPr anchor="ctr" anchorCtr="1"/>
      <a:lstStyle>
        <a:defPPr algn="ctr">
          <a:spcBef>
            <a:spcPct val="50000"/>
          </a:spcBef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Nexteer External</Template>
  <TotalTime>9609</TotalTime>
  <Words>1428</Words>
  <Application>Microsoft Office PowerPoint</Application>
  <PresentationFormat>On-screen Show (4:3)</PresentationFormat>
  <Paragraphs>341</Paragraphs>
  <Slides>33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Nexteer External</vt:lpstr>
      <vt:lpstr>Microsoft Excel Chart</vt:lpstr>
      <vt:lpstr>Product Team Update Technology Roadmap (26FE15)</vt:lpstr>
      <vt:lpstr>Technology Roadmap Process Enhancements</vt:lpstr>
      <vt:lpstr>Technology Roadmap Process</vt:lpstr>
      <vt:lpstr>Motive Ranking Visibility and Discipline</vt:lpstr>
      <vt:lpstr>Programs by Year</vt:lpstr>
      <vt:lpstr>Torque Sensor</vt:lpstr>
      <vt:lpstr>FE142: LOW COST SMALL DIAMETER TORQUE SENSOR</vt:lpstr>
      <vt:lpstr>PowerPoint Presentation</vt:lpstr>
      <vt:lpstr>FE142: LOW COST SMALL DIAMETER TORQUE SENSOR</vt:lpstr>
      <vt:lpstr>PowerPoint Presentation</vt:lpstr>
      <vt:lpstr>FE142: LOW COST SMALL DIAMETER TORQUE SENSOR</vt:lpstr>
      <vt:lpstr>FE142: LOW COST SMALL DIAMETER TORQUE SENSOR</vt:lpstr>
      <vt:lpstr>FE142: LOW COST SMALL DIAMETER TORQUE SENSOR</vt:lpstr>
      <vt:lpstr>FE142: LOW COST SMALL DIAMETER TORQUE SENSOR</vt:lpstr>
      <vt:lpstr>FE142: LOW COST SMALL DIAMETER TORQUE SENSOR</vt:lpstr>
      <vt:lpstr>Closed Loop Steering Control (MRA Pursuit)</vt:lpstr>
      <vt:lpstr>EPS Performance and Robustness Evolution</vt:lpstr>
      <vt:lpstr>PowerPoint Presentation</vt:lpstr>
      <vt:lpstr>EPS Closed-Loop Control Technology – Status and Timeline</vt:lpstr>
      <vt:lpstr>Closed-Loop Control System Architecture</vt:lpstr>
      <vt:lpstr>Closed Loop Steering Control</vt:lpstr>
      <vt:lpstr>MRA Function Implementation Status</vt:lpstr>
      <vt:lpstr>PowerPoint Presentation</vt:lpstr>
      <vt:lpstr>High Ratio CEPS</vt:lpstr>
      <vt:lpstr>Higher Ratio (31:1) A/M</vt:lpstr>
      <vt:lpstr>Status</vt:lpstr>
      <vt:lpstr>31:1 Backdrive Friction Data</vt:lpstr>
      <vt:lpstr>31:1 Contact Pattern Pictures</vt:lpstr>
      <vt:lpstr>31:1 Efficiency Data</vt:lpstr>
      <vt:lpstr>Motor Optimization</vt:lpstr>
      <vt:lpstr>PP-124: Cost Optimized Motor Design (IPM/skew/pole shape/WIH)</vt:lpstr>
      <vt:lpstr>Cost Motor Model and Cogging Cancellation</vt:lpstr>
      <vt:lpstr>PP-126: Heat Management for Motor</vt:lpstr>
    </vt:vector>
  </TitlesOfParts>
  <Company>Nexteer Automotive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Presentation</dc:title>
  <dc:creator>Smith, Myiesha</dc:creator>
  <cp:lastModifiedBy>Krieger, Geoff</cp:lastModifiedBy>
  <cp:revision>298</cp:revision>
  <cp:lastPrinted>2014-05-12T18:11:35Z</cp:lastPrinted>
  <dcterms:created xsi:type="dcterms:W3CDTF">2013-09-12T13:37:05Z</dcterms:created>
  <dcterms:modified xsi:type="dcterms:W3CDTF">2015-02-26T04:14:18Z</dcterms:modified>
</cp:coreProperties>
</file>