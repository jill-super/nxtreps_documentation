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xlsm" ContentType="application/vnd.ms-excel.sheet.macroEnabled.12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386" r:id="rId2"/>
    <p:sldId id="591" r:id="rId3"/>
    <p:sldId id="387" r:id="rId4"/>
    <p:sldId id="581" r:id="rId5"/>
    <p:sldId id="582" r:id="rId6"/>
    <p:sldId id="583" r:id="rId7"/>
    <p:sldId id="391" r:id="rId8"/>
    <p:sldId id="615" r:id="rId9"/>
    <p:sldId id="616" r:id="rId10"/>
    <p:sldId id="609" r:id="rId11"/>
    <p:sldId id="611" r:id="rId12"/>
    <p:sldId id="612" r:id="rId13"/>
    <p:sldId id="613" r:id="rId14"/>
    <p:sldId id="614" r:id="rId15"/>
    <p:sldId id="598" r:id="rId16"/>
    <p:sldId id="599" r:id="rId17"/>
    <p:sldId id="600" r:id="rId18"/>
    <p:sldId id="602" r:id="rId19"/>
    <p:sldId id="603" r:id="rId20"/>
    <p:sldId id="604" r:id="rId21"/>
    <p:sldId id="580" r:id="rId22"/>
    <p:sldId id="590" r:id="rId23"/>
    <p:sldId id="585" r:id="rId24"/>
    <p:sldId id="587" r:id="rId25"/>
    <p:sldId id="588" r:id="rId26"/>
  </p:sldIdLst>
  <p:sldSz cx="9144000" cy="6858000" type="screen4x3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0202"/>
    <a:srgbClr val="DDDDDD"/>
    <a:srgbClr val="008000"/>
    <a:srgbClr val="200121"/>
    <a:srgbClr val="66FFFF"/>
    <a:srgbClr val="000099"/>
    <a:srgbClr val="D9D9D9"/>
    <a:srgbClr val="FFFF66"/>
    <a:srgbClr val="FFFF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365" autoAdjust="0"/>
    <p:restoredTop sz="62345" autoAdjust="0"/>
  </p:normalViewPr>
  <p:slideViewPr>
    <p:cSldViewPr snapToGrid="0" snapToObjects="1">
      <p:cViewPr varScale="1">
        <p:scale>
          <a:sx n="74" d="100"/>
          <a:sy n="74" d="100"/>
        </p:scale>
        <p:origin x="-1302" y="-90"/>
      </p:cViewPr>
      <p:guideLst>
        <p:guide orient="horz" pos="824"/>
        <p:guide pos="21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90B6F562-B82B-4CC2-BFA6-8E12E19E5702}" type="datetimeFigureOut">
              <a:rPr lang="en-US" smtClean="0"/>
              <a:t>9/19/2014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58989399-9D01-4588-90B0-E9E0BF0EC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9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07" name="Shape 30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>
            <a:spLocks noGrp="1"/>
          </p:cNvSpPr>
          <p:nvPr>
            <p:ph type="body" idx="1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23" name="Shape 32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body" idx="1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lIns="92950" tIns="46475" rIns="92950" bIns="46475" anchor="t" anchorCtr="0">
            <a:noAutofit/>
          </a:bodyPr>
          <a:lstStyle/>
          <a:p>
            <a:endParaRPr/>
          </a:p>
        </p:txBody>
      </p:sp>
      <p:sp>
        <p:nvSpPr>
          <p:cNvPr id="370" name="Shape 370"/>
          <p:cNvSpPr txBox="1">
            <a:spLocks noGrp="1"/>
          </p:cNvSpPr>
          <p:nvPr>
            <p:ph type="sldNum" idx="12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lIns="92950" tIns="46475" rIns="92950" bIns="46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 txBox="1">
            <a:spLocks noGrp="1"/>
          </p:cNvSpPr>
          <p:nvPr>
            <p:ph type="body" idx="1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40" name="Shape 440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80" name="Shape 380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 txBox="1">
            <a:spLocks noGrp="1"/>
          </p:cNvSpPr>
          <p:nvPr>
            <p:ph type="body" idx="1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40" name="Shape 440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EF892-E77E-4E05-8CD0-55F2FDF46ED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01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49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600" cy="4179000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99" cy="3481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5" name="Shape 215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600" cy="4179000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99" cy="3481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49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1" name="Shape 161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49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49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4" name="Shape 184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49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49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6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8000" y="381000"/>
            <a:ext cx="8099425" cy="1262063"/>
          </a:xfrm>
        </p:spPr>
        <p:txBody>
          <a:bodyPr anchor="b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8000" y="1828800"/>
            <a:ext cx="8102600" cy="530225"/>
          </a:xfrm>
        </p:spPr>
        <p:txBody>
          <a:bodyPr/>
          <a:lstStyle>
            <a:lvl1pPr marL="0" indent="0" algn="l">
              <a:buFont typeface="Wingdings" charset="2"/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1"/>
          </p:nvPr>
        </p:nvSpPr>
        <p:spPr>
          <a:xfrm>
            <a:off x="457200" y="1524000"/>
            <a:ext cx="8229600" cy="4419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DC0202"/>
              </a:buClr>
              <a:buSzPct val="75000"/>
              <a:buFont typeface="Wingdings" pitchFamily="2" charset="2"/>
              <a:buChar char=""/>
              <a:defRPr sz="2400"/>
            </a:lvl1pPr>
            <a:lvl2pPr marL="579438" indent="-228600">
              <a:buFont typeface="Symbol" pitchFamily="18" charset="2"/>
              <a:buChar char=""/>
              <a:defRPr sz="2000"/>
            </a:lvl2pPr>
            <a:lvl3pPr marL="974725" indent="-228600">
              <a:buFont typeface="Wingdings" pitchFamily="2" charset="2"/>
              <a:buChar char=""/>
              <a:defRPr sz="1800"/>
            </a:lvl3pPr>
            <a:lvl4pPr marL="1311275" indent="-228600">
              <a:buSzPct val="75000"/>
              <a:buFont typeface="Wingdings" pitchFamily="2" charset="2"/>
              <a:buChar char=""/>
              <a:defRPr sz="1600"/>
            </a:lvl4pPr>
            <a:lvl5pPr marL="1722438" indent="-228600">
              <a:buFont typeface="Arial" pitchFamily="34" charset="0"/>
              <a:buChar char="–"/>
              <a:defRPr sz="1400" baseline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107363" y="6477000"/>
            <a:ext cx="685800" cy="228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46D51941-F85C-46AD-B04E-D209ED387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rgbClr val="FFFFFF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1"/>
          </p:nvPr>
        </p:nvSpPr>
        <p:spPr>
          <a:xfrm>
            <a:off x="457200" y="1524000"/>
            <a:ext cx="4038600" cy="4419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DC0202"/>
              </a:buClr>
              <a:buSzPct val="75000"/>
              <a:buFont typeface="Wingdings" pitchFamily="2" charset="2"/>
              <a:buChar char=""/>
              <a:defRPr sz="2400"/>
            </a:lvl1pPr>
            <a:lvl2pPr marL="579438" indent="-228600">
              <a:buFont typeface="Symbol" pitchFamily="18" charset="2"/>
              <a:buChar char=""/>
              <a:defRPr sz="2000"/>
            </a:lvl2pPr>
            <a:lvl3pPr marL="974725" indent="-228600">
              <a:buFont typeface="Wingdings" pitchFamily="2" charset="2"/>
              <a:buChar char=""/>
              <a:defRPr sz="1800"/>
            </a:lvl3pPr>
            <a:lvl4pPr marL="1311275" indent="-228600">
              <a:buSzPct val="75000"/>
              <a:buFont typeface="Wingdings" pitchFamily="2" charset="2"/>
              <a:buChar char=""/>
              <a:defRPr sz="1600"/>
            </a:lvl4pPr>
            <a:lvl5pPr marL="1722438" indent="-228600">
              <a:buFont typeface="Arial" pitchFamily="34" charset="0"/>
              <a:buChar char="–"/>
              <a:defRPr sz="1400" baseline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107363" y="6477000"/>
            <a:ext cx="685800" cy="2286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46D51941-F85C-46AD-B04E-D209ED387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24000"/>
            <a:ext cx="40386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rgbClr val="FFFFFF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2"/>
          </p:nvPr>
        </p:nvSpPr>
        <p:spPr>
          <a:xfrm>
            <a:off x="4648200" y="1524000"/>
            <a:ext cx="4038600" cy="4419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DC0202"/>
              </a:buClr>
              <a:buSzPct val="75000"/>
              <a:buFont typeface="Wingdings" pitchFamily="2" charset="2"/>
              <a:buChar char=""/>
              <a:defRPr sz="2400"/>
            </a:lvl1pPr>
            <a:lvl2pPr marL="579438" indent="-228600">
              <a:buFont typeface="Symbol" pitchFamily="18" charset="2"/>
              <a:buChar char=""/>
              <a:defRPr sz="2000"/>
            </a:lvl2pPr>
            <a:lvl3pPr marL="974725" indent="-228600">
              <a:buFont typeface="Wingdings" pitchFamily="2" charset="2"/>
              <a:buChar char=""/>
              <a:defRPr sz="1800"/>
            </a:lvl3pPr>
            <a:lvl4pPr marL="1311275" indent="-228600">
              <a:buSzPct val="75000"/>
              <a:buFont typeface="Wingdings" pitchFamily="2" charset="2"/>
              <a:buChar char=""/>
              <a:defRPr sz="1600"/>
            </a:lvl4pPr>
            <a:lvl5pPr marL="1722438" indent="-228600">
              <a:buFont typeface="Arial" pitchFamily="34" charset="0"/>
              <a:buChar char="–"/>
              <a:defRPr sz="1400" baseline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l" rtl="0">
              <a:spcBef>
                <a:spcPts val="0"/>
              </a:spcBef>
              <a:spcAft>
                <a:spcPts val="0"/>
              </a:spcAft>
              <a:defRPr/>
            </a:lvl1pPr>
            <a:lvl2pPr algn="l" rtl="0">
              <a:spcBef>
                <a:spcPts val="0"/>
              </a:spcBef>
              <a:spcAft>
                <a:spcPts val="0"/>
              </a:spcAft>
              <a:defRPr/>
            </a:lvl2pPr>
            <a:lvl3pPr algn="l" rtl="0">
              <a:spcBef>
                <a:spcPts val="0"/>
              </a:spcBef>
              <a:spcAft>
                <a:spcPts val="0"/>
              </a:spcAft>
              <a:defRPr/>
            </a:lvl3pPr>
            <a:lvl4pPr algn="l" rtl="0">
              <a:spcBef>
                <a:spcPts val="0"/>
              </a:spcBef>
              <a:spcAft>
                <a:spcPts val="0"/>
              </a:spcAft>
              <a:defRPr/>
            </a:lvl4pPr>
            <a:lvl5pPr algn="l" rtl="0">
              <a:spcBef>
                <a:spcPts val="0"/>
              </a:spcBef>
              <a:spcAft>
                <a:spcPts val="0"/>
              </a:spcAft>
              <a:defRPr/>
            </a:lvl5pPr>
            <a:lvl6pPr marL="457200" algn="l" rtl="0">
              <a:spcBef>
                <a:spcPts val="0"/>
              </a:spcBef>
              <a:spcAft>
                <a:spcPts val="0"/>
              </a:spcAft>
              <a:defRPr/>
            </a:lvl6pPr>
            <a:lvl7pPr marL="914400" algn="l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l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107363" y="6608763"/>
            <a:ext cx="685799" cy="22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394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0"/>
            <a:ext cx="9144000" cy="5809129"/>
          </a:xfrm>
          <a:prstGeom prst="rect">
            <a:avLst/>
          </a:prstGeom>
        </p:spPr>
      </p:pic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5654" name="Rectangle 6"/>
          <p:cNvSpPr>
            <a:spLocks noChangeArrowheads="1"/>
          </p:cNvSpPr>
          <p:nvPr userDrawn="1"/>
        </p:nvSpPr>
        <p:spPr bwMode="auto">
          <a:xfrm>
            <a:off x="3949700" y="6663013"/>
            <a:ext cx="16891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/>
            <a:fld id="{E0E49CF5-A81C-C645-81BA-3739836A328A}" type="datetime4">
              <a:rPr lang="en-US" sz="800">
                <a:solidFill>
                  <a:schemeClr val="bg1">
                    <a:lumMod val="50000"/>
                  </a:schemeClr>
                </a:solidFill>
              </a:rPr>
              <a:pPr algn="ctr"/>
              <a:t>September 19, 2014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663" name="Rectangle 15"/>
          <p:cNvSpPr>
            <a:spLocks noChangeArrowheads="1"/>
          </p:cNvSpPr>
          <p:nvPr userDrawn="1"/>
        </p:nvSpPr>
        <p:spPr bwMode="auto">
          <a:xfrm>
            <a:off x="152400" y="6663013"/>
            <a:ext cx="4495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Nexteer</a:t>
            </a:r>
            <a:r>
              <a:rPr lang="en-US" sz="800" baseline="0" dirty="0" smtClean="0">
                <a:solidFill>
                  <a:schemeClr val="bg1">
                    <a:lumMod val="50000"/>
                  </a:schemeClr>
                </a:solidFill>
              </a:rPr>
              <a:t> - Business</a:t>
            </a:r>
            <a:endParaRPr lang="en-US" sz="8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7010400" y="6656024"/>
            <a:ext cx="16891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r"/>
            <a:fld id="{2C77599A-825E-41D2-9D76-138032C595CB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231775" indent="-231775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Font typeface="Wingdings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5425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Font typeface="Symbol" charset="2"/>
        <a:buChar char="-"/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974725" indent="-228600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Font typeface="Wingdings" charset="2"/>
        <a:buChar char=""/>
        <a:defRPr>
          <a:solidFill>
            <a:schemeClr val="tx1"/>
          </a:solidFill>
          <a:latin typeface="+mn-lt"/>
          <a:ea typeface="ＭＳ Ｐゴシック" charset="-128"/>
        </a:defRPr>
      </a:lvl3pPr>
      <a:lvl4pPr marL="1317625" indent="-228600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Font typeface="Wingdings" charset="2"/>
        <a:buChar char="n"/>
        <a:defRPr sz="1600">
          <a:solidFill>
            <a:schemeClr val="tx1"/>
          </a:solidFill>
          <a:latin typeface="+mn-lt"/>
          <a:ea typeface="ＭＳ Ｐゴシック" charset="-128"/>
        </a:defRPr>
      </a:lvl4pPr>
      <a:lvl5pPr marL="1716088" indent="-228600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5pPr>
      <a:lvl6pPr marL="2173288" indent="-228600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6pPr>
      <a:lvl7pPr marL="2630488" indent="-228600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7pPr>
      <a:lvl8pPr marL="3087688" indent="-228600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8pPr>
      <a:lvl9pPr marL="3544888" indent="-228600" algn="l" defTabSz="738188" rtl="0" eaLnBrk="1" fontAlgn="base" hangingPunct="1">
        <a:spcBef>
          <a:spcPct val="20000"/>
        </a:spcBef>
        <a:spcAft>
          <a:spcPct val="0"/>
        </a:spcAft>
        <a:buClr>
          <a:srgbClr val="DC0202"/>
        </a:buClr>
        <a:buSzPct val="75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9.jp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1.png"/><Relationship Id="rId4" Type="http://schemas.openxmlformats.org/officeDocument/2006/relationships/image" Target="../media/image20.jp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5.wmf"/><Relationship Id="rId5" Type="http://schemas.openxmlformats.org/officeDocument/2006/relationships/package" Target="../embeddings/Microsoft_Excel_Macro-Enabled_Worksheet1.xlsm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1.jpg"/><Relationship Id="rId5" Type="http://schemas.openxmlformats.org/officeDocument/2006/relationships/image" Target="../media/image35.wmf"/><Relationship Id="rId4" Type="http://schemas.openxmlformats.org/officeDocument/2006/relationships/package" Target="../embeddings/Microsoft_Excel_Macro-Enabled_Worksheet2.xlsm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ctrTitle"/>
          </p:nvPr>
        </p:nvSpPr>
        <p:spPr>
          <a:xfrm>
            <a:off x="457200" y="291148"/>
            <a:ext cx="8099425" cy="12620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200" b="1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Managed Technology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" y="1752600"/>
            <a:ext cx="3611046" cy="2869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372" y="158827"/>
            <a:ext cx="2708628" cy="1634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985" y="330200"/>
            <a:ext cx="716453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984" y="1436687"/>
            <a:ext cx="716453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985" y="1185862"/>
            <a:ext cx="716453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35" y="1436686"/>
            <a:ext cx="716453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04305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 txBox="1">
            <a:spLocks noGrp="1"/>
          </p:cNvSpPr>
          <p:nvPr>
            <p:ph type="title"/>
          </p:nvPr>
        </p:nvSpPr>
        <p:spPr>
          <a:xfrm>
            <a:off x="457200" y="992419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Value-Managed Technology</a:t>
            </a:r>
          </a:p>
        </p:txBody>
      </p:sp>
      <p:sp>
        <p:nvSpPr>
          <p:cNvPr id="319" name="Shape 319"/>
          <p:cNvSpPr txBox="1">
            <a:spLocks noGrp="1"/>
          </p:cNvSpPr>
          <p:nvPr>
            <p:ph type="body" idx="4294967295"/>
          </p:nvPr>
        </p:nvSpPr>
        <p:spPr>
          <a:xfrm>
            <a:off x="579549" y="2310223"/>
            <a:ext cx="8242479" cy="433633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sym typeface="Arial"/>
              </a:rPr>
              <a:t>Develop technologies to meet </a:t>
            </a:r>
            <a:r>
              <a:rPr lang="en-US" sz="1800" b="1" i="0" u="none" strike="noStrike" cap="none" baseline="0" dirty="0">
                <a:solidFill>
                  <a:schemeClr val="dk1"/>
                </a:solidFill>
                <a:sym typeface="Arial"/>
              </a:rPr>
              <a:t>future customers and business needs 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sym typeface="Arial"/>
              </a:rPr>
              <a:t>Ensure </a:t>
            </a:r>
            <a:r>
              <a:rPr lang="en-US" sz="1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technology for </a:t>
            </a:r>
            <a:r>
              <a:rPr lang="en-US" sz="1800" b="1" i="0" u="none" strike="noStrike" cap="none" baseline="0" dirty="0">
                <a:solidFill>
                  <a:schemeClr val="dk1"/>
                </a:solidFill>
                <a:sym typeface="Arial"/>
              </a:rPr>
              <a:t>future market growth and strength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sym typeface="Arial"/>
              </a:rPr>
              <a:t>All EPS Engineering projects managed and tracked in </a:t>
            </a:r>
            <a:r>
              <a:rPr lang="en-US" sz="1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Technology Roadmap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Weekly meetings with cross functional group</a:t>
            </a:r>
          </a:p>
          <a:p>
            <a:pPr marL="228600" indent="-22860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Font typeface="Arial"/>
              <a:buChar char="■"/>
            </a:pPr>
            <a:r>
              <a:rPr lang="en-US" sz="1800" dirty="0"/>
              <a:t>Projects assessed and prioritized based on </a:t>
            </a:r>
            <a:r>
              <a:rPr lang="en-US" sz="1800" b="1" dirty="0"/>
              <a:t>overall value</a:t>
            </a:r>
            <a:endParaRPr lang="en-US" sz="1800" dirty="0"/>
          </a:p>
          <a:p>
            <a:pPr marL="228600" marR="0" lvl="0" indent="-2286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dirty="0" smtClean="0">
                <a:solidFill>
                  <a:schemeClr val="dk1"/>
                </a:solidFill>
              </a:rPr>
              <a:t>High risk projects reviewed weekly, others based upon scheduled cadence</a:t>
            </a:r>
            <a:endParaRPr lang="en-US" sz="1800" b="0" i="0" u="none" strike="noStrike" cap="none" baseline="0" dirty="0">
              <a:solidFill>
                <a:schemeClr val="dk1"/>
              </a:solidFill>
              <a:sym typeface="Arial"/>
            </a:endParaRPr>
          </a:p>
          <a:p>
            <a:pPr marL="228600" marR="0" lvl="0" indent="-2286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Responsive </a:t>
            </a:r>
            <a:r>
              <a:rPr lang="en-US" sz="1800" b="0" i="0" u="none" strike="noStrike" cap="none" baseline="0" dirty="0">
                <a:solidFill>
                  <a:schemeClr val="dk1"/>
                </a:solidFill>
                <a:sym typeface="Arial"/>
              </a:rPr>
              <a:t>development process</a:t>
            </a:r>
          </a:p>
          <a:p>
            <a:pPr marL="579438" marR="0" lvl="1" indent="-236537" algn="l" rtl="0">
              <a:lnSpc>
                <a:spcPct val="80000"/>
              </a:lnSpc>
              <a:spcBef>
                <a:spcPts val="310"/>
              </a:spcBef>
              <a:spcAft>
                <a:spcPts val="0"/>
              </a:spcAft>
              <a:buClr>
                <a:srgbClr val="DC0202"/>
              </a:buClr>
              <a:buSzPct val="72656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Agile to move quickly for pursuit and early product development</a:t>
            </a:r>
          </a:p>
          <a:p>
            <a:pPr marL="579438" marR="0" lvl="1" indent="-236537" algn="l" rtl="0">
              <a:lnSpc>
                <a:spcPct val="80000"/>
              </a:lnSpc>
              <a:spcBef>
                <a:spcPts val="310"/>
              </a:spcBef>
              <a:spcAft>
                <a:spcPts val="0"/>
              </a:spcAft>
              <a:buClr>
                <a:srgbClr val="DC0202"/>
              </a:buClr>
              <a:buSzPct val="72656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Disciplined to create robust designs to maximum use across the customer base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dirty="0" smtClean="0">
                <a:solidFill>
                  <a:schemeClr val="dk1"/>
                </a:solidFill>
              </a:rPr>
              <a:t>Project requirements defined for each project – exit criteria and timing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Linked </a:t>
            </a:r>
            <a:r>
              <a:rPr lang="en-US" sz="1800" b="0" i="0" u="none" strike="noStrike" cap="none" baseline="0" dirty="0">
                <a:solidFill>
                  <a:schemeClr val="dk1"/>
                </a:solidFill>
                <a:sym typeface="Arial"/>
              </a:rPr>
              <a:t>to resource model to support budget and timing</a:t>
            </a:r>
          </a:p>
          <a:p>
            <a:endParaRPr lang="en-US" sz="1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3" b="1183"/>
          <a:stretch/>
        </p:blipFill>
        <p:spPr bwMode="auto">
          <a:xfrm>
            <a:off x="6762147" y="601894"/>
            <a:ext cx="21621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1104" y="4924496"/>
            <a:ext cx="2473751" cy="188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177372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/>
          <p:nvPr/>
        </p:nvSpPr>
        <p:spPr>
          <a:xfrm>
            <a:off x="6096000" y="5999480"/>
            <a:ext cx="2819400" cy="5333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pic>
        <p:nvPicPr>
          <p:cNvPr id="310" name="Shape 310"/>
          <p:cNvPicPr preferRelativeResize="0"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5650" y="2777401"/>
            <a:ext cx="2293519" cy="172013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Shape 311"/>
          <p:cNvSpPr txBox="1">
            <a:spLocks noGrp="1"/>
          </p:cNvSpPr>
          <p:nvPr>
            <p:ph type="title"/>
          </p:nvPr>
        </p:nvSpPr>
        <p:spPr>
          <a:xfrm>
            <a:off x="457200" y="469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 Engineering </a:t>
            </a:r>
            <a:r>
              <a:rPr lang="en-US" sz="2800" b="1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br>
              <a:rPr lang="en-US" sz="2800" b="1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800" b="1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Shape 312"/>
          <p:cNvSpPr txBox="1">
            <a:spLocks noGrp="1"/>
          </p:cNvSpPr>
          <p:nvPr>
            <p:ph type="body" idx="4294967295"/>
          </p:nvPr>
        </p:nvSpPr>
        <p:spPr>
          <a:xfrm>
            <a:off x="457200" y="3046712"/>
            <a:ext cx="8229600" cy="325191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25000"/>
              <a:buFont typeface="Arial"/>
              <a:buNone/>
            </a:pPr>
            <a:r>
              <a:rPr lang="en-US" sz="2400" b="0" i="0" u="sng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Assessment Method and Definition</a:t>
            </a: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Tech Plan project assessed</a:t>
            </a: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 factor </a:t>
            </a: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multiple attributes</a:t>
            </a: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Considers trade offs between multiple attributes</a:t>
            </a: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</a:t>
            </a: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highest scalar rating </a:t>
            </a:r>
            <a:r>
              <a:rPr lang="en-US" sz="24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to current state</a:t>
            </a:r>
            <a:endParaRPr lang="en-US" sz="24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Bang projects bundle high value projects to meet system level market segments/requirements</a:t>
            </a:r>
          </a:p>
        </p:txBody>
      </p:sp>
      <p:graphicFrame>
        <p:nvGraphicFramePr>
          <p:cNvPr id="313" name="Shape 313"/>
          <p:cNvGraphicFramePr/>
          <p:nvPr>
            <p:extLst>
              <p:ext uri="{D42A27DB-BD31-4B8C-83A1-F6EECF244321}">
                <p14:modId xmlns:p14="http://schemas.microsoft.com/office/powerpoint/2010/main" val="1792383890"/>
              </p:ext>
            </p:extLst>
          </p:nvPr>
        </p:nvGraphicFramePr>
        <p:xfrm>
          <a:off x="412124" y="1496854"/>
          <a:ext cx="8458200" cy="11791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45825"/>
                <a:gridCol w="6316975"/>
                <a:gridCol w="1295400"/>
              </a:tblGrid>
              <a:tr h="404125">
                <a:tc gridSpan="3"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Create Best Technology to Drive Growth and Improve Profitability</a:t>
                      </a:r>
                    </a:p>
                  </a:txBody>
                  <a:tcPr marL="91450" marR="91450" marT="45725" marB="45725">
                    <a:lnB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36450"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>
                    <a:lnL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marL="91450" marR="91450" marT="45725" marB="45725">
                    <a:lnL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/>
                        <a:t>Target</a:t>
                      </a:r>
                    </a:p>
                  </a:txBody>
                  <a:tcPr marL="91450" marR="91450" marT="45725" marB="45725">
                    <a:lnL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409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>
                    <a:lnL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/>
                        <a:t>Develop Next Gen Products with Improved Value</a:t>
                      </a:r>
                    </a:p>
                  </a:txBody>
                  <a:tcPr marL="91450" marR="91450" marT="45725" marB="45725" anchor="ctr">
                    <a:lnL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dirty="0"/>
                        <a:t>10%</a:t>
                      </a:r>
                    </a:p>
                  </a:txBody>
                  <a:tcPr marL="91450" marR="91450" marT="45725" marB="45725" anchor="ctr">
                    <a:lnL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82091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75" y="2583880"/>
            <a:ext cx="8329846" cy="4138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7" name="Shape 34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Technology Roadmap</a:t>
            </a:r>
          </a:p>
        </p:txBody>
      </p:sp>
      <p:sp>
        <p:nvSpPr>
          <p:cNvPr id="348" name="Shape 348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229600" cy="11235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Technology Roadmap is maintained and tracked </a:t>
            </a:r>
            <a: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Excel/Google </a:t>
            </a: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tool</a:t>
            </a:r>
          </a:p>
          <a:p>
            <a:pPr marL="2286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Risk Items reviewed </a:t>
            </a:r>
            <a: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weekly</a:t>
            </a:r>
            <a:endParaRPr lang="en-US" sz="20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Shape 349"/>
          <p:cNvSpPr txBox="1"/>
          <p:nvPr/>
        </p:nvSpPr>
        <p:spPr>
          <a:xfrm>
            <a:off x="111805" y="2196591"/>
            <a:ext cx="2090482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Item Description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2019146" y="2196591"/>
            <a:ext cx="1067920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Owners</a:t>
            </a:r>
          </a:p>
        </p:txBody>
      </p:sp>
      <p:sp>
        <p:nvSpPr>
          <p:cNvPr id="351" name="Shape 351"/>
          <p:cNvSpPr txBox="1"/>
          <p:nvPr/>
        </p:nvSpPr>
        <p:spPr>
          <a:xfrm>
            <a:off x="7809746" y="2227369"/>
            <a:ext cx="1096094" cy="33855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</p:txBody>
      </p:sp>
      <p:sp>
        <p:nvSpPr>
          <p:cNvPr id="352" name="Shape 352"/>
          <p:cNvSpPr/>
          <p:nvPr/>
        </p:nvSpPr>
        <p:spPr>
          <a:xfrm>
            <a:off x="302653" y="3367173"/>
            <a:ext cx="2072946" cy="3118915"/>
          </a:xfrm>
          <a:prstGeom prst="ellipse">
            <a:avLst/>
          </a:prstGeom>
          <a:noFill/>
          <a:ln w="9525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354" name="Shape 354"/>
          <p:cNvSpPr/>
          <p:nvPr/>
        </p:nvSpPr>
        <p:spPr>
          <a:xfrm>
            <a:off x="7263685" y="3387296"/>
            <a:ext cx="888642" cy="3191207"/>
          </a:xfrm>
          <a:prstGeom prst="ellipse">
            <a:avLst/>
          </a:prstGeom>
          <a:noFill/>
          <a:ln w="9525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cxnSp>
        <p:nvCxnSpPr>
          <p:cNvPr id="355" name="Shape 355"/>
          <p:cNvCxnSpPr>
            <a:stCxn id="349" idx="2"/>
          </p:cNvCxnSpPr>
          <p:nvPr/>
        </p:nvCxnSpPr>
        <p:spPr>
          <a:xfrm>
            <a:off x="1157046" y="2596700"/>
            <a:ext cx="182080" cy="753134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356" name="Shape 356"/>
          <p:cNvCxnSpPr/>
          <p:nvPr/>
        </p:nvCxnSpPr>
        <p:spPr>
          <a:xfrm flipH="1">
            <a:off x="7378778" y="2600397"/>
            <a:ext cx="863701" cy="737733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357" name="Shape 357"/>
          <p:cNvSpPr txBox="1"/>
          <p:nvPr/>
        </p:nvSpPr>
        <p:spPr>
          <a:xfrm>
            <a:off x="5615189" y="2192894"/>
            <a:ext cx="2024417" cy="40750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Review cadence</a:t>
            </a:r>
          </a:p>
        </p:txBody>
      </p:sp>
      <p:sp>
        <p:nvSpPr>
          <p:cNvPr id="358" name="Shape 358"/>
          <p:cNvSpPr/>
          <p:nvPr/>
        </p:nvSpPr>
        <p:spPr>
          <a:xfrm>
            <a:off x="6202050" y="3452198"/>
            <a:ext cx="1061635" cy="3126305"/>
          </a:xfrm>
          <a:prstGeom prst="ellipse">
            <a:avLst/>
          </a:prstGeom>
          <a:noFill/>
          <a:ln w="9525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cxnSp>
        <p:nvCxnSpPr>
          <p:cNvPr id="359" name="Shape 359"/>
          <p:cNvCxnSpPr>
            <a:stCxn id="357" idx="2"/>
            <a:endCxn id="358" idx="0"/>
          </p:cNvCxnSpPr>
          <p:nvPr/>
        </p:nvCxnSpPr>
        <p:spPr>
          <a:xfrm>
            <a:off x="6627398" y="2600397"/>
            <a:ext cx="105470" cy="851801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360" name="Shape 360"/>
          <p:cNvCxnSpPr>
            <a:stCxn id="350" idx="2"/>
          </p:cNvCxnSpPr>
          <p:nvPr/>
        </p:nvCxnSpPr>
        <p:spPr>
          <a:xfrm>
            <a:off x="2553106" y="2596700"/>
            <a:ext cx="21687" cy="770473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364" name="Shape 364"/>
          <p:cNvSpPr/>
          <p:nvPr/>
        </p:nvSpPr>
        <p:spPr>
          <a:xfrm>
            <a:off x="2378425" y="3383986"/>
            <a:ext cx="390534" cy="3104660"/>
          </a:xfrm>
          <a:prstGeom prst="ellipse">
            <a:avLst/>
          </a:prstGeom>
          <a:noFill/>
          <a:ln w="9525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365" name="Shape 365"/>
          <p:cNvSpPr txBox="1"/>
          <p:nvPr/>
        </p:nvSpPr>
        <p:spPr>
          <a:xfrm>
            <a:off x="3121543" y="2258146"/>
            <a:ext cx="2049288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 Assessment</a:t>
            </a:r>
            <a:endParaRPr lang="en-US" i="0" u="none" strike="noStrike" cap="none" baseline="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Shape 366"/>
          <p:cNvCxnSpPr/>
          <p:nvPr/>
        </p:nvCxnSpPr>
        <p:spPr>
          <a:xfrm>
            <a:off x="4288665" y="2600397"/>
            <a:ext cx="167435" cy="786899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2" name="Rounded Rectangle 11"/>
          <p:cNvSpPr/>
          <p:nvPr/>
        </p:nvSpPr>
        <p:spPr>
          <a:xfrm>
            <a:off x="3052313" y="3349834"/>
            <a:ext cx="2807574" cy="314878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hape 360"/>
          <p:cNvCxnSpPr/>
          <p:nvPr/>
        </p:nvCxnSpPr>
        <p:spPr>
          <a:xfrm>
            <a:off x="2574793" y="2600397"/>
            <a:ext cx="3426762" cy="786899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404565277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 txBox="1">
            <a:spLocks noGrp="1"/>
          </p:cNvSpPr>
          <p:nvPr>
            <p:ph type="title"/>
          </p:nvPr>
        </p:nvSpPr>
        <p:spPr>
          <a:xfrm>
            <a:off x="282388" y="402665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Attributes</a:t>
            </a:r>
          </a:p>
        </p:txBody>
      </p:sp>
      <p:sp>
        <p:nvSpPr>
          <p:cNvPr id="406" name="Shape 406"/>
          <p:cNvSpPr txBox="1">
            <a:spLocks noGrp="1"/>
          </p:cNvSpPr>
          <p:nvPr>
            <p:ph type="body" idx="4294967295"/>
          </p:nvPr>
        </p:nvSpPr>
        <p:spPr>
          <a:xfrm>
            <a:off x="282388" y="1480434"/>
            <a:ext cx="8229600" cy="461160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579438" marR="0" lvl="1" indent="-236537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−"/>
            </a:pPr>
            <a:r>
              <a:rPr lang="en-US" sz="1800" dirty="0" smtClean="0">
                <a:latin typeface="Arial"/>
                <a:ea typeface="Arial"/>
                <a:cs typeface="Arial"/>
                <a:sym typeface="Arial"/>
              </a:rPr>
              <a:t>Each project assessed against </a:t>
            </a:r>
            <a:r>
              <a:rPr lang="en-US" sz="1800" b="1" u="sng" dirty="0" smtClean="0">
                <a:latin typeface="Arial"/>
                <a:ea typeface="Arial"/>
                <a:cs typeface="Arial"/>
                <a:sym typeface="Arial"/>
              </a:rPr>
              <a:t>8 Attributes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Piece Cost </a:t>
            </a:r>
            <a:br>
              <a:rPr lang="en-US" sz="1600" dirty="0" smtClean="0"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(total cost: including material, labor, investment, PC&amp;L)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Mass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Packaging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Performance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Quality/Warranty/FTQ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Value Stream Risk Reduction/Supplier Diversification/</a:t>
            </a:r>
            <a:r>
              <a:rPr lang="en-US" sz="1600" dirty="0" err="1" smtClean="0">
                <a:latin typeface="Arial"/>
                <a:ea typeface="Arial"/>
                <a:cs typeface="Arial"/>
                <a:sym typeface="Arial"/>
              </a:rPr>
              <a:t>Fx</a:t>
            </a: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 protection, Logistics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Development Efficiencies</a:t>
            </a:r>
          </a:p>
          <a:p>
            <a:pPr marL="982663" lvl="2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600" dirty="0" smtClean="0">
                <a:latin typeface="Arial"/>
                <a:ea typeface="Arial"/>
                <a:cs typeface="Arial"/>
                <a:sym typeface="Arial"/>
              </a:rPr>
              <a:t>Growth Opportunity / Market Trends</a:t>
            </a:r>
          </a:p>
          <a:p>
            <a:pPr marL="1325563" lvl="3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400" dirty="0" smtClean="0">
                <a:latin typeface="Arial"/>
                <a:ea typeface="Arial"/>
                <a:cs typeface="Arial"/>
                <a:sym typeface="Arial"/>
              </a:rPr>
              <a:t>One vs. multiple customers</a:t>
            </a:r>
          </a:p>
          <a:p>
            <a:pPr marL="1325563" lvl="3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400" dirty="0" smtClean="0">
                <a:latin typeface="Arial"/>
                <a:ea typeface="Arial"/>
                <a:cs typeface="Arial"/>
                <a:sym typeface="Arial"/>
              </a:rPr>
              <a:t>Potential legislative requirements</a:t>
            </a:r>
          </a:p>
          <a:p>
            <a:pPr marL="1325563" lvl="3" indent="-236537">
              <a:spcBef>
                <a:spcPts val="0"/>
              </a:spcBef>
              <a:spcAft>
                <a:spcPts val="0"/>
              </a:spcAft>
              <a:buFont typeface="Arial"/>
              <a:buChar char="−"/>
            </a:pPr>
            <a:r>
              <a:rPr lang="en-US" sz="1400" dirty="0" smtClean="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 baseline="30000" dirty="0" smtClean="0"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1400" dirty="0" smtClean="0">
                <a:latin typeface="Arial"/>
                <a:ea typeface="Arial"/>
                <a:cs typeface="Arial"/>
                <a:sym typeface="Arial"/>
              </a:rPr>
              <a:t> to market</a:t>
            </a:r>
            <a:br>
              <a:rPr lang="en-US" sz="1400" dirty="0" smtClean="0">
                <a:latin typeface="Arial"/>
                <a:ea typeface="Arial"/>
                <a:cs typeface="Arial"/>
                <a:sym typeface="Arial"/>
              </a:rPr>
            </a:br>
            <a:endParaRPr lang="en-US" sz="1400" dirty="0" smtClean="0">
              <a:latin typeface="Arial"/>
              <a:ea typeface="Arial"/>
              <a:cs typeface="Arial"/>
              <a:sym typeface="Arial"/>
            </a:endParaRPr>
          </a:p>
          <a:p>
            <a:pPr marL="579438" marR="0" lvl="1" indent="-236537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−"/>
            </a:pPr>
            <a:r>
              <a:rPr lang="en-US" sz="1800" b="0" i="0" u="none" strike="noStrike" cap="none" baseline="0" dirty="0" smtClean="0">
                <a:latin typeface="Arial"/>
                <a:ea typeface="Arial"/>
                <a:cs typeface="Arial"/>
                <a:sym typeface="Arial"/>
              </a:rPr>
              <a:t>-5 to +5 Scale</a:t>
            </a:r>
            <a:r>
              <a:rPr lang="en-US" sz="18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 for each </a:t>
            </a:r>
            <a:r>
              <a:rPr lang="en-US" sz="1800" dirty="0" smtClean="0">
                <a:latin typeface="Arial"/>
                <a:ea typeface="Arial"/>
                <a:cs typeface="Arial"/>
                <a:sym typeface="Arial"/>
              </a:rPr>
              <a:t>attribute (total avail points -40 to +40)</a:t>
            </a:r>
          </a:p>
          <a:p>
            <a:pPr marL="579438" marR="0" lvl="1" indent="-236537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−"/>
            </a:pPr>
            <a:r>
              <a:rPr lang="en-US" sz="1800" dirty="0" smtClean="0">
                <a:latin typeface="Arial"/>
                <a:ea typeface="Arial"/>
                <a:cs typeface="Arial"/>
                <a:sym typeface="Arial"/>
              </a:rPr>
              <a:t>Current production baseline set to zero</a:t>
            </a:r>
          </a:p>
          <a:p>
            <a:pPr marL="579438" marR="0" lvl="1" indent="-236537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−"/>
            </a:pPr>
            <a:r>
              <a:rPr lang="en-US" sz="1800" dirty="0" smtClean="0">
                <a:latin typeface="Arial"/>
                <a:ea typeface="Arial"/>
                <a:cs typeface="Arial"/>
                <a:sym typeface="Arial"/>
              </a:rPr>
              <a:t>Overall “10% Value Improvement” assessed against 40 possible points</a:t>
            </a:r>
          </a:p>
          <a:p>
            <a:pPr marL="579438" marR="0" lvl="1" indent="-236537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−"/>
            </a:pPr>
            <a:endParaRPr lang="en-US" sz="1800" dirty="0" smtClean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51556" y="229607"/>
            <a:ext cx="1696255" cy="28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16565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3014414"/>
            <a:ext cx="4726366" cy="347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 Plan - Second Quarter Status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435935" y="1311350"/>
            <a:ext cx="8229600" cy="4419600"/>
          </a:xfrm>
        </p:spPr>
        <p:txBody>
          <a:bodyPr/>
          <a:lstStyle/>
          <a:p>
            <a:r>
              <a:rPr lang="en-US" dirty="0" smtClean="0"/>
              <a:t>Project assessments being reviewed in weekly cross functional meeting for initial score</a:t>
            </a:r>
          </a:p>
          <a:p>
            <a:r>
              <a:rPr lang="en-US" dirty="0" smtClean="0"/>
              <a:t>102 Total Active Projects</a:t>
            </a:r>
          </a:p>
          <a:p>
            <a:r>
              <a:rPr lang="en-US" dirty="0" smtClean="0"/>
              <a:t>11.4% Value Improvement average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9" name="Shape 376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5080715" y="4031135"/>
            <a:ext cx="3864993" cy="2576661"/>
          </a:xfrm>
          <a:prstGeom prst="roundRect">
            <a:avLst>
              <a:gd name="adj" fmla="val 8594"/>
            </a:avLst>
          </a:prstGeom>
          <a:solidFill>
            <a:srgbClr val="EEEEEE"/>
          </a:solidFill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614400" y="3348507"/>
            <a:ext cx="25757" cy="284623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44155" y="3546051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10% improvement</a:t>
            </a:r>
          </a:p>
          <a:p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 smtClean="0">
                <a:solidFill>
                  <a:srgbClr val="FF0000"/>
                </a:solidFill>
              </a:rPr>
              <a:t>rom current state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743200" y="3730717"/>
            <a:ext cx="20095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17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Explosion 1 71"/>
          <p:cNvSpPr/>
          <p:nvPr/>
        </p:nvSpPr>
        <p:spPr>
          <a:xfrm>
            <a:off x="5053753" y="2205150"/>
            <a:ext cx="1355645" cy="768455"/>
          </a:xfrm>
          <a:prstGeom prst="irregularSeal1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IBK Pursuit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2" name="Shape 37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Value Managed </a:t>
            </a:r>
            <a:r>
              <a:rPr lang="en-US" sz="2800" b="1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br>
              <a:rPr lang="en-US" sz="2800" b="1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Pagers</a:t>
            </a:r>
            <a:endParaRPr lang="en-US" sz="2800" b="1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Shape 373"/>
          <p:cNvSpPr txBox="1">
            <a:spLocks noGrp="1"/>
          </p:cNvSpPr>
          <p:nvPr>
            <p:ph type="body" idx="4294967295"/>
          </p:nvPr>
        </p:nvSpPr>
        <p:spPr>
          <a:xfrm>
            <a:off x="457200" y="1524000"/>
            <a:ext cx="8229600" cy="44195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of </a:t>
            </a:r>
            <a:r>
              <a:rPr lang="en-US" sz="24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Assist</a:t>
            </a:r>
            <a:endParaRPr lang="en-US" sz="24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 Wound / 12 FET Architecture</a:t>
            </a:r>
            <a:endParaRPr lang="en-US" sz="2400" b="0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ECU minimization</a:t>
            </a:r>
            <a:r>
              <a:rPr lang="en-US" sz="24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MPP</a:t>
            </a:r>
          </a:p>
          <a:p>
            <a:pPr marL="2286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DC0202"/>
              </a:buClr>
              <a:buSzPct val="75000"/>
              <a:buFont typeface="Arial"/>
              <a:buChar char="■"/>
            </a:pPr>
            <a:r>
              <a:rPr lang="en-US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De- coupled</a:t>
            </a:r>
            <a:r>
              <a:rPr lang="en-US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Technology Projects</a:t>
            </a:r>
          </a:p>
          <a:p>
            <a:pPr marL="568325" lvl="1" indent="-228600">
              <a:spcBef>
                <a:spcPts val="480"/>
              </a:spcBef>
              <a:spcAft>
                <a:spcPts val="0"/>
              </a:spcAft>
              <a:buFont typeface="Arial"/>
              <a:buChar char="■"/>
            </a:pPr>
            <a: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Ratio/ Low Torque, CEPS</a:t>
            </a:r>
            <a:endParaRPr lang="en-US" sz="20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Shape 407"/>
          <p:cNvSpPr/>
          <p:nvPr/>
        </p:nvSpPr>
        <p:spPr>
          <a:xfrm rot="10800000" flipH="1">
            <a:off x="6172119" y="1534940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13" name="Shape 423"/>
          <p:cNvSpPr txBox="1"/>
          <p:nvPr/>
        </p:nvSpPr>
        <p:spPr>
          <a:xfrm>
            <a:off x="7431310" y="1609580"/>
            <a:ext cx="97266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APPLICATION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5" name="Shape 423"/>
          <p:cNvSpPr txBox="1"/>
          <p:nvPr/>
        </p:nvSpPr>
        <p:spPr>
          <a:xfrm>
            <a:off x="6258854" y="1609580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FE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8" name="Shape 423"/>
          <p:cNvSpPr txBox="1"/>
          <p:nvPr/>
        </p:nvSpPr>
        <p:spPr>
          <a:xfrm>
            <a:off x="6773270" y="1609580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CORE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9" name="Shape 423"/>
          <p:cNvSpPr txBox="1"/>
          <p:nvPr/>
        </p:nvSpPr>
        <p:spPr>
          <a:xfrm>
            <a:off x="8457897" y="1610510"/>
            <a:ext cx="691003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CURRENT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4" name="Shape 407"/>
          <p:cNvSpPr/>
          <p:nvPr/>
        </p:nvSpPr>
        <p:spPr>
          <a:xfrm rot="10800000" flipH="1">
            <a:off x="6183487" y="2456879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25" name="Shape 423"/>
          <p:cNvSpPr txBox="1"/>
          <p:nvPr/>
        </p:nvSpPr>
        <p:spPr>
          <a:xfrm>
            <a:off x="7442678" y="2531519"/>
            <a:ext cx="97266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APPLICATION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6" name="Shape 423"/>
          <p:cNvSpPr txBox="1"/>
          <p:nvPr/>
        </p:nvSpPr>
        <p:spPr>
          <a:xfrm>
            <a:off x="6270222" y="2531519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FE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7" name="Shape 423"/>
          <p:cNvSpPr txBox="1"/>
          <p:nvPr/>
        </p:nvSpPr>
        <p:spPr>
          <a:xfrm>
            <a:off x="6784638" y="2531519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CORE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8" name="Shape 407"/>
          <p:cNvSpPr/>
          <p:nvPr/>
        </p:nvSpPr>
        <p:spPr>
          <a:xfrm rot="10800000" flipH="1">
            <a:off x="6129678" y="1995532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29" name="Shape 423"/>
          <p:cNvSpPr txBox="1"/>
          <p:nvPr/>
        </p:nvSpPr>
        <p:spPr>
          <a:xfrm>
            <a:off x="7388869" y="2070172"/>
            <a:ext cx="97266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APPLICATION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0" name="Shape 423"/>
          <p:cNvSpPr txBox="1"/>
          <p:nvPr/>
        </p:nvSpPr>
        <p:spPr>
          <a:xfrm>
            <a:off x="6216413" y="2070172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FE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1" name="Shape 423"/>
          <p:cNvSpPr txBox="1"/>
          <p:nvPr/>
        </p:nvSpPr>
        <p:spPr>
          <a:xfrm>
            <a:off x="6730829" y="2070172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CORE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6" name="Shape 407"/>
          <p:cNvSpPr/>
          <p:nvPr/>
        </p:nvSpPr>
        <p:spPr>
          <a:xfrm rot="10800000" flipH="1">
            <a:off x="6190303" y="3245095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37" name="Shape 423"/>
          <p:cNvSpPr txBox="1"/>
          <p:nvPr/>
        </p:nvSpPr>
        <p:spPr>
          <a:xfrm>
            <a:off x="7449494" y="3319735"/>
            <a:ext cx="97266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APPLICATION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8" name="Shape 423"/>
          <p:cNvSpPr txBox="1"/>
          <p:nvPr/>
        </p:nvSpPr>
        <p:spPr>
          <a:xfrm>
            <a:off x="6277038" y="3319735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FE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9" name="Shape 423"/>
          <p:cNvSpPr txBox="1"/>
          <p:nvPr/>
        </p:nvSpPr>
        <p:spPr>
          <a:xfrm>
            <a:off x="6791454" y="3319735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CORE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54" name="Shape 423"/>
          <p:cNvSpPr txBox="1"/>
          <p:nvPr/>
        </p:nvSpPr>
        <p:spPr>
          <a:xfrm>
            <a:off x="8455617" y="2531519"/>
            <a:ext cx="691003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CURRENT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55" name="Shape 423"/>
          <p:cNvSpPr txBox="1"/>
          <p:nvPr/>
        </p:nvSpPr>
        <p:spPr>
          <a:xfrm>
            <a:off x="8394984" y="2063348"/>
            <a:ext cx="691003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CURRENT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57" name="Shape 423"/>
          <p:cNvSpPr txBox="1"/>
          <p:nvPr/>
        </p:nvSpPr>
        <p:spPr>
          <a:xfrm>
            <a:off x="8469257" y="3306087"/>
            <a:ext cx="691003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CURRENT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9" name="Isosceles Triangle 48"/>
          <p:cNvSpPr/>
          <p:nvPr/>
        </p:nvSpPr>
        <p:spPr>
          <a:xfrm rot="10800000">
            <a:off x="6737079" y="1363417"/>
            <a:ext cx="256090" cy="177329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Isosceles Triangle 59"/>
          <p:cNvSpPr/>
          <p:nvPr/>
        </p:nvSpPr>
        <p:spPr>
          <a:xfrm rot="10800000">
            <a:off x="6696963" y="2289182"/>
            <a:ext cx="256090" cy="177329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Isosceles Triangle 60"/>
          <p:cNvSpPr/>
          <p:nvPr/>
        </p:nvSpPr>
        <p:spPr>
          <a:xfrm rot="10800000">
            <a:off x="6569545" y="1839984"/>
            <a:ext cx="256090" cy="177329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 rot="10800000">
            <a:off x="6279553" y="3081979"/>
            <a:ext cx="256090" cy="177329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xplosion 1 49"/>
          <p:cNvSpPr/>
          <p:nvPr/>
        </p:nvSpPr>
        <p:spPr>
          <a:xfrm>
            <a:off x="3564085" y="1359432"/>
            <a:ext cx="1355645" cy="768455"/>
          </a:xfrm>
          <a:prstGeom prst="irregularSeal1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GM Pursuit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09" y="3914996"/>
            <a:ext cx="1846639" cy="2710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93255" y="3882192"/>
            <a:ext cx="5747230" cy="277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776646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xplosion 1 55"/>
          <p:cNvSpPr/>
          <p:nvPr/>
        </p:nvSpPr>
        <p:spPr>
          <a:xfrm>
            <a:off x="0" y="4248271"/>
            <a:ext cx="1355645" cy="768455"/>
          </a:xfrm>
          <a:prstGeom prst="irregularSeal1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Main Driver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096000" y="6025238"/>
            <a:ext cx="2819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C0202"/>
              </a:solidFill>
            </a:endParaRPr>
          </a:p>
        </p:txBody>
      </p:sp>
      <p:sp>
        <p:nvSpPr>
          <p:cNvPr id="405" name="Shape 405"/>
          <p:cNvSpPr txBox="1">
            <a:spLocks noGrp="1"/>
          </p:cNvSpPr>
          <p:nvPr>
            <p:ph type="title"/>
          </p:nvPr>
        </p:nvSpPr>
        <p:spPr>
          <a:xfrm>
            <a:off x="457200" y="469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of Assist - Project Value </a:t>
            </a:r>
            <a:r>
              <a:rPr lang="en-US" sz="2800" b="1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Assessment</a:t>
            </a:r>
            <a:br>
              <a:rPr lang="en-US" sz="2800" b="1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32% Value</a:t>
            </a:r>
            <a:r>
              <a:rPr lang="en-US" sz="28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Improvement (score 13)</a:t>
            </a:r>
            <a:endParaRPr lang="en-US" sz="2800" b="1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Shape 407"/>
          <p:cNvSpPr/>
          <p:nvPr/>
        </p:nvSpPr>
        <p:spPr>
          <a:xfrm rot="10800000" flipH="1">
            <a:off x="5551135" y="1370589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08" name="Shape 408"/>
          <p:cNvSpPr/>
          <p:nvPr/>
        </p:nvSpPr>
        <p:spPr>
          <a:xfrm rot="10800000" flipH="1">
            <a:off x="5551135" y="2187085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09" name="Shape 409"/>
          <p:cNvSpPr/>
          <p:nvPr/>
        </p:nvSpPr>
        <p:spPr>
          <a:xfrm rot="10800000" flipH="1">
            <a:off x="5551135" y="2586740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10" name="Shape 410"/>
          <p:cNvSpPr/>
          <p:nvPr/>
        </p:nvSpPr>
        <p:spPr>
          <a:xfrm rot="10800000" flipH="1">
            <a:off x="5551135" y="2983022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11" name="Shape 411"/>
          <p:cNvSpPr/>
          <p:nvPr/>
        </p:nvSpPr>
        <p:spPr>
          <a:xfrm rot="10800000" flipH="1">
            <a:off x="5551135" y="3399530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12" name="Shape 412"/>
          <p:cNvSpPr/>
          <p:nvPr/>
        </p:nvSpPr>
        <p:spPr>
          <a:xfrm rot="10800000" flipH="1">
            <a:off x="5551135" y="3802403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13" name="Shape 413"/>
          <p:cNvSpPr/>
          <p:nvPr/>
        </p:nvSpPr>
        <p:spPr>
          <a:xfrm rot="10800000" flipH="1">
            <a:off x="5551135" y="4186833"/>
            <a:ext cx="2922303" cy="3339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2FF85"/>
              </a:gs>
              <a:gs pos="17000">
                <a:srgbClr val="22FF85"/>
              </a:gs>
              <a:gs pos="50000">
                <a:srgbClr val="918044"/>
              </a:gs>
              <a:gs pos="85000">
                <a:srgbClr val="FF0000"/>
              </a:gs>
              <a:gs pos="100000">
                <a:srgbClr val="FF0000"/>
              </a:gs>
            </a:gsLst>
            <a:lin ang="6000000" scaled="0"/>
          </a:gra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14" name="Shape 414"/>
          <p:cNvSpPr/>
          <p:nvPr/>
        </p:nvSpPr>
        <p:spPr>
          <a:xfrm rot="10800000" flipH="1">
            <a:off x="5598564" y="1328211"/>
            <a:ext cx="1460494" cy="418701"/>
          </a:xfrm>
          <a:prstGeom prst="roundRect">
            <a:avLst>
              <a:gd name="adj" fmla="val 16667"/>
            </a:avLst>
          </a:prstGeom>
          <a:noFill/>
          <a:ln w="5715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>
              <a:noFill/>
            </a:endParaRPr>
          </a:p>
        </p:txBody>
      </p:sp>
      <p:sp>
        <p:nvSpPr>
          <p:cNvPr id="417" name="Shape 417"/>
          <p:cNvSpPr/>
          <p:nvPr/>
        </p:nvSpPr>
        <p:spPr>
          <a:xfrm rot="5400000" flipH="1">
            <a:off x="6749707" y="4636748"/>
            <a:ext cx="618709" cy="38677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18" name="Shape 418"/>
          <p:cNvSpPr txBox="1"/>
          <p:nvPr/>
        </p:nvSpPr>
        <p:spPr>
          <a:xfrm rot="-3050191">
            <a:off x="6104112" y="5132776"/>
            <a:ext cx="1556836" cy="369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</a:p>
        </p:txBody>
      </p:sp>
      <p:sp>
        <p:nvSpPr>
          <p:cNvPr id="419" name="Shape 419"/>
          <p:cNvSpPr/>
          <p:nvPr/>
        </p:nvSpPr>
        <p:spPr>
          <a:xfrm rot="-5400000">
            <a:off x="5997685" y="4146641"/>
            <a:ext cx="421442" cy="1314541"/>
          </a:xfrm>
          <a:prstGeom prst="leftBrace">
            <a:avLst>
              <a:gd name="adj1" fmla="val 8333"/>
              <a:gd name="adj2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20" name="Shape 420"/>
          <p:cNvSpPr/>
          <p:nvPr/>
        </p:nvSpPr>
        <p:spPr>
          <a:xfrm rot="-5400000">
            <a:off x="7652222" y="4121008"/>
            <a:ext cx="421442" cy="1220990"/>
          </a:xfrm>
          <a:prstGeom prst="leftBrace">
            <a:avLst>
              <a:gd name="adj1" fmla="val 8333"/>
              <a:gd name="adj2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21" name="Shape 421"/>
          <p:cNvSpPr txBox="1"/>
          <p:nvPr/>
        </p:nvSpPr>
        <p:spPr>
          <a:xfrm rot="-3050191">
            <a:off x="5397004" y="5132776"/>
            <a:ext cx="1428596" cy="369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 value</a:t>
            </a:r>
          </a:p>
        </p:txBody>
      </p:sp>
      <p:sp>
        <p:nvSpPr>
          <p:cNvPr id="422" name="Shape 422"/>
          <p:cNvSpPr txBox="1"/>
          <p:nvPr/>
        </p:nvSpPr>
        <p:spPr>
          <a:xfrm rot="-3050192">
            <a:off x="7042847" y="5066495"/>
            <a:ext cx="1479892" cy="369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 value</a:t>
            </a:r>
          </a:p>
        </p:txBody>
      </p:sp>
      <p:sp>
        <p:nvSpPr>
          <p:cNvPr id="425" name="Shape 425"/>
          <p:cNvSpPr/>
          <p:nvPr/>
        </p:nvSpPr>
        <p:spPr>
          <a:xfrm rot="10800000" flipH="1">
            <a:off x="7566125" y="2949865"/>
            <a:ext cx="108855" cy="418701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27" name="Shape 427"/>
          <p:cNvSpPr/>
          <p:nvPr/>
        </p:nvSpPr>
        <p:spPr>
          <a:xfrm rot="10800000" flipH="1">
            <a:off x="6677893" y="3749698"/>
            <a:ext cx="108855" cy="418701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428" name="Shape 428"/>
          <p:cNvSpPr/>
          <p:nvPr/>
        </p:nvSpPr>
        <p:spPr>
          <a:xfrm rot="10800000" flipH="1">
            <a:off x="8040232" y="4144455"/>
            <a:ext cx="108855" cy="418701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>
            <a:solidFill>
              <a:srgbClr val="B6DC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sp>
        <p:nvSpPr>
          <p:cNvPr id="35" name="Shape 423"/>
          <p:cNvSpPr txBox="1"/>
          <p:nvPr/>
        </p:nvSpPr>
        <p:spPr>
          <a:xfrm>
            <a:off x="8153400" y="1445229"/>
            <a:ext cx="441146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($3)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6" name="Shape 423"/>
          <p:cNvSpPr txBox="1"/>
          <p:nvPr/>
        </p:nvSpPr>
        <p:spPr>
          <a:xfrm>
            <a:off x="7848600" y="1445229"/>
            <a:ext cx="441146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($2)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7" name="Shape 423"/>
          <p:cNvSpPr txBox="1"/>
          <p:nvPr/>
        </p:nvSpPr>
        <p:spPr>
          <a:xfrm>
            <a:off x="7543800" y="1445229"/>
            <a:ext cx="441146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($1)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8" name="Shape 423"/>
          <p:cNvSpPr txBox="1"/>
          <p:nvPr/>
        </p:nvSpPr>
        <p:spPr>
          <a:xfrm>
            <a:off x="7010400" y="1445229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($0.25)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9" name="Shape 414"/>
          <p:cNvSpPr/>
          <p:nvPr/>
        </p:nvSpPr>
        <p:spPr>
          <a:xfrm rot="10800000" flipH="1">
            <a:off x="7086600" y="2144532"/>
            <a:ext cx="879360" cy="418701"/>
          </a:xfrm>
          <a:prstGeom prst="roundRect">
            <a:avLst>
              <a:gd name="adj" fmla="val 16667"/>
            </a:avLst>
          </a:prstGeom>
          <a:noFill/>
          <a:ln w="5715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>
              <a:noFill/>
            </a:endParaRPr>
          </a:p>
        </p:txBody>
      </p:sp>
      <p:sp>
        <p:nvSpPr>
          <p:cNvPr id="43" name="Shape 423"/>
          <p:cNvSpPr txBox="1"/>
          <p:nvPr/>
        </p:nvSpPr>
        <p:spPr>
          <a:xfrm>
            <a:off x="5486400" y="1445229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+$3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4" name="Shape 423"/>
          <p:cNvSpPr txBox="1"/>
          <p:nvPr/>
        </p:nvSpPr>
        <p:spPr>
          <a:xfrm>
            <a:off x="5791200" y="1445229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+$2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5" name="Shape 423"/>
          <p:cNvSpPr txBox="1"/>
          <p:nvPr/>
        </p:nvSpPr>
        <p:spPr>
          <a:xfrm>
            <a:off x="6117220" y="1445229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+$1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6" name="Shape 423"/>
          <p:cNvSpPr txBox="1"/>
          <p:nvPr/>
        </p:nvSpPr>
        <p:spPr>
          <a:xfrm>
            <a:off x="6500106" y="1445229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+$0.25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65" name="Shape 423"/>
          <p:cNvSpPr txBox="1"/>
          <p:nvPr/>
        </p:nvSpPr>
        <p:spPr>
          <a:xfrm>
            <a:off x="8090637" y="2661380"/>
            <a:ext cx="596163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(400g)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66" name="Shape 423"/>
          <p:cNvSpPr txBox="1"/>
          <p:nvPr/>
        </p:nvSpPr>
        <p:spPr>
          <a:xfrm>
            <a:off x="7782793" y="2661380"/>
            <a:ext cx="523007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(250g)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67" name="Shape 423"/>
          <p:cNvSpPr txBox="1"/>
          <p:nvPr/>
        </p:nvSpPr>
        <p:spPr>
          <a:xfrm>
            <a:off x="7391400" y="2661380"/>
            <a:ext cx="500248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(100g)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68" name="Shape 423"/>
          <p:cNvSpPr txBox="1"/>
          <p:nvPr/>
        </p:nvSpPr>
        <p:spPr>
          <a:xfrm>
            <a:off x="7026454" y="2661380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(25g)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74" name="Shape 423"/>
          <p:cNvSpPr txBox="1"/>
          <p:nvPr/>
        </p:nvSpPr>
        <p:spPr>
          <a:xfrm>
            <a:off x="6629400" y="2666942"/>
            <a:ext cx="611486" cy="17354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>
                <a:solidFill>
                  <a:schemeClr val="dk1"/>
                </a:solidFill>
              </a:rPr>
              <a:t>+</a:t>
            </a:r>
            <a:r>
              <a:rPr lang="en-US" sz="800" dirty="0" smtClean="0">
                <a:solidFill>
                  <a:schemeClr val="dk1"/>
                </a:solidFill>
              </a:rPr>
              <a:t>25g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75" name="Shape 423"/>
          <p:cNvSpPr txBox="1"/>
          <p:nvPr/>
        </p:nvSpPr>
        <p:spPr>
          <a:xfrm>
            <a:off x="6172200" y="2666942"/>
            <a:ext cx="611486" cy="17354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+100g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76" name="Shape 423"/>
          <p:cNvSpPr txBox="1"/>
          <p:nvPr/>
        </p:nvSpPr>
        <p:spPr>
          <a:xfrm>
            <a:off x="5791200" y="2666942"/>
            <a:ext cx="611486" cy="17354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>
                <a:solidFill>
                  <a:schemeClr val="dk1"/>
                </a:solidFill>
              </a:rPr>
              <a:t>+</a:t>
            </a:r>
            <a:r>
              <a:rPr lang="en-US" sz="800" dirty="0" smtClean="0">
                <a:solidFill>
                  <a:schemeClr val="dk1"/>
                </a:solidFill>
              </a:rPr>
              <a:t>250g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77" name="Shape 423"/>
          <p:cNvSpPr txBox="1"/>
          <p:nvPr/>
        </p:nvSpPr>
        <p:spPr>
          <a:xfrm>
            <a:off x="5486400" y="2666942"/>
            <a:ext cx="611486" cy="17354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+400g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78" name="Shape 423"/>
          <p:cNvSpPr txBox="1"/>
          <p:nvPr/>
        </p:nvSpPr>
        <p:spPr>
          <a:xfrm>
            <a:off x="8169454" y="3485006"/>
            <a:ext cx="441146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50%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80" name="Shape 423"/>
          <p:cNvSpPr txBox="1"/>
          <p:nvPr/>
        </p:nvSpPr>
        <p:spPr>
          <a:xfrm>
            <a:off x="7559853" y="3485006"/>
            <a:ext cx="589233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(25%)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81" name="Shape 423"/>
          <p:cNvSpPr txBox="1"/>
          <p:nvPr/>
        </p:nvSpPr>
        <p:spPr>
          <a:xfrm>
            <a:off x="7107820" y="3485006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(5%)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82" name="Shape 423"/>
          <p:cNvSpPr txBox="1"/>
          <p:nvPr/>
        </p:nvSpPr>
        <p:spPr>
          <a:xfrm>
            <a:off x="5502454" y="3485006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+50%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84" name="Shape 423"/>
          <p:cNvSpPr txBox="1"/>
          <p:nvPr/>
        </p:nvSpPr>
        <p:spPr>
          <a:xfrm>
            <a:off x="6041020" y="3485006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+25%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85" name="Shape 423"/>
          <p:cNvSpPr txBox="1"/>
          <p:nvPr/>
        </p:nvSpPr>
        <p:spPr>
          <a:xfrm>
            <a:off x="6650620" y="3485006"/>
            <a:ext cx="51218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+5%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3" name="Shape 423"/>
          <p:cNvSpPr txBox="1"/>
          <p:nvPr/>
        </p:nvSpPr>
        <p:spPr>
          <a:xfrm>
            <a:off x="7924800" y="3831079"/>
            <a:ext cx="702014" cy="26293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3IPTV</a:t>
            </a:r>
            <a:endParaRPr lang="en-US" sz="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+1% FTQ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6" name="Shape 423"/>
          <p:cNvSpPr txBox="1"/>
          <p:nvPr/>
        </p:nvSpPr>
        <p:spPr>
          <a:xfrm>
            <a:off x="5493986" y="3814142"/>
            <a:ext cx="714420" cy="18466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+3IPTV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(1%) FTQ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9" name="Shape 423"/>
          <p:cNvSpPr txBox="1"/>
          <p:nvPr/>
        </p:nvSpPr>
        <p:spPr>
          <a:xfrm>
            <a:off x="7772400" y="4204670"/>
            <a:ext cx="914400" cy="20551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Legislative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All customers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00" name="Shape 423"/>
          <p:cNvSpPr txBox="1"/>
          <p:nvPr/>
        </p:nvSpPr>
        <p:spPr>
          <a:xfrm>
            <a:off x="5867400" y="4204670"/>
            <a:ext cx="914400" cy="20551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Not reusable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One customer</a:t>
            </a:r>
          </a:p>
        </p:txBody>
      </p:sp>
      <p:sp>
        <p:nvSpPr>
          <p:cNvPr id="101" name="Shape 423"/>
          <p:cNvSpPr txBox="1"/>
          <p:nvPr/>
        </p:nvSpPr>
        <p:spPr>
          <a:xfrm>
            <a:off x="7772400" y="3003961"/>
            <a:ext cx="914400" cy="20551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Not currently available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02" name="Shape 423"/>
          <p:cNvSpPr txBox="1"/>
          <p:nvPr/>
        </p:nvSpPr>
        <p:spPr>
          <a:xfrm>
            <a:off x="5867400" y="3003961"/>
            <a:ext cx="914400" cy="20551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Available commercially</a:t>
            </a:r>
          </a:p>
        </p:txBody>
      </p:sp>
      <p:sp>
        <p:nvSpPr>
          <p:cNvPr id="103" name="Shape 423"/>
          <p:cNvSpPr txBox="1"/>
          <p:nvPr/>
        </p:nvSpPr>
        <p:spPr>
          <a:xfrm>
            <a:off x="7467600" y="2224565"/>
            <a:ext cx="1143000" cy="20551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New f(x)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Increased capability</a:t>
            </a:r>
            <a:endParaRPr lang="en-US" sz="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04" name="Shape 423"/>
          <p:cNvSpPr txBox="1"/>
          <p:nvPr/>
        </p:nvSpPr>
        <p:spPr>
          <a:xfrm>
            <a:off x="5867400" y="2224565"/>
            <a:ext cx="914400" cy="20551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Decreased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800" dirty="0" smtClean="0">
                <a:solidFill>
                  <a:schemeClr val="dk1"/>
                </a:solidFill>
              </a:rPr>
              <a:t>capability</a:t>
            </a:r>
          </a:p>
        </p:txBody>
      </p:sp>
      <p:sp>
        <p:nvSpPr>
          <p:cNvPr id="406" name="Shape 406"/>
          <p:cNvSpPr txBox="1">
            <a:spLocks noGrp="1"/>
          </p:cNvSpPr>
          <p:nvPr>
            <p:ph type="body" idx="4294967295"/>
          </p:nvPr>
        </p:nvSpPr>
        <p:spPr>
          <a:xfrm>
            <a:off x="457200" y="1384300"/>
            <a:ext cx="8229600" cy="51485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685801" lvl="1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</a:p>
          <a:p>
            <a:pPr lvl="2" indent="-236537">
              <a:lnSpc>
                <a:spcPct val="150000"/>
              </a:lnSpc>
              <a:spcBef>
                <a:spcPts val="600"/>
              </a:spcBef>
              <a:buSzPct val="75000"/>
              <a:buFont typeface="Arial"/>
              <a:buChar char="−"/>
            </a:pPr>
            <a:r>
              <a:rPr lang="en-US" sz="1800" dirty="0" smtClean="0">
                <a:solidFill>
                  <a:schemeClr val="dk1"/>
                </a:solidFill>
              </a:rPr>
              <a:t>SW to full redundancy options</a:t>
            </a:r>
            <a:endParaRPr lang="en-US" sz="1800" b="0" i="0" u="none" strike="noStrike" cap="none" baseline="0" dirty="0">
              <a:solidFill>
                <a:schemeClr val="dk1"/>
              </a:solidFill>
              <a:sym typeface="Arial"/>
            </a:endParaRPr>
          </a:p>
          <a:p>
            <a:pPr marL="685801" marR="0" lvl="1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</a:p>
          <a:p>
            <a:pPr marL="685801" marR="0" lvl="1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</a:t>
            </a:r>
          </a:p>
          <a:p>
            <a:pPr marL="685801" marR="0" lvl="1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Value Stream 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(supplier diversity, FX protection, Logistics)</a:t>
            </a: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1" marR="0" lvl="1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Packaging</a:t>
            </a:r>
          </a:p>
          <a:p>
            <a:pPr marL="685801" lvl="1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Quality/FTQ/Warranty 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(FTQ, PPM, Warranty)</a:t>
            </a: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1" marR="0" lvl="1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Customer/Market Requirements</a:t>
            </a:r>
          </a:p>
          <a:p>
            <a:pPr lvl="2" indent="-236537">
              <a:spcBef>
                <a:spcPts val="600"/>
              </a:spcBef>
              <a:buSzPct val="75000"/>
              <a:buFont typeface="Arial"/>
              <a:buChar char="−"/>
            </a:pPr>
            <a:r>
              <a:rPr lang="en-US" sz="1800" dirty="0" smtClean="0">
                <a:solidFill>
                  <a:schemeClr val="dk1"/>
                </a:solidFill>
              </a:rPr>
              <a:t>All customers requiring some level</a:t>
            </a:r>
          </a:p>
          <a:p>
            <a:pPr lvl="2" indent="-236537">
              <a:spcBef>
                <a:spcPts val="600"/>
              </a:spcBef>
              <a:buSzPct val="75000"/>
              <a:buFont typeface="Arial"/>
              <a:buChar char="−"/>
            </a:pPr>
            <a:r>
              <a:rPr lang="en-US" sz="1800" b="0" i="0" u="none" strike="noStrike" cap="none" baseline="0" dirty="0" smtClean="0">
                <a:solidFill>
                  <a:schemeClr val="dk1"/>
                </a:solidFill>
                <a:sym typeface="Arial"/>
              </a:rPr>
              <a:t>Potential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sym typeface="Arial"/>
              </a:rPr>
              <a:t> legislative requirements</a:t>
            </a:r>
          </a:p>
          <a:p>
            <a:pPr lvl="2" indent="-236537">
              <a:spcBef>
                <a:spcPts val="600"/>
              </a:spcBef>
              <a:buSzPct val="75000"/>
              <a:buFont typeface="Arial"/>
              <a:buChar char="−"/>
            </a:pPr>
            <a:r>
              <a:rPr lang="en-US" sz="1800" baseline="0" dirty="0" smtClean="0">
                <a:solidFill>
                  <a:schemeClr val="dk1"/>
                </a:solidFill>
              </a:rPr>
              <a:t>Strong</a:t>
            </a:r>
            <a:r>
              <a:rPr lang="en-US" sz="1800" dirty="0" smtClean="0">
                <a:solidFill>
                  <a:schemeClr val="dk1"/>
                </a:solidFill>
              </a:rPr>
              <a:t> advantage to be first to market</a:t>
            </a:r>
          </a:p>
          <a:p>
            <a:pPr lvl="2" indent="-236537">
              <a:spcBef>
                <a:spcPts val="600"/>
              </a:spcBef>
              <a:buSzPct val="75000"/>
              <a:buFont typeface="Arial"/>
              <a:buChar char="−"/>
            </a:pPr>
            <a:r>
              <a:rPr lang="en-US" b="0" i="0" u="none" strike="noStrike" cap="none" baseline="0" dirty="0" smtClean="0">
                <a:solidFill>
                  <a:schemeClr val="dk1"/>
                </a:solidFill>
                <a:sym typeface="Arial"/>
              </a:rPr>
              <a:t>Level 3 and 4 most likely</a:t>
            </a:r>
            <a:endParaRPr lang="en-US" sz="1800" b="0" i="0" u="none" strike="noStrike" cap="none" baseline="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61" name="Shape 414"/>
          <p:cNvSpPr/>
          <p:nvPr/>
        </p:nvSpPr>
        <p:spPr>
          <a:xfrm rot="10800000" flipH="1">
            <a:off x="6236845" y="2552957"/>
            <a:ext cx="879360" cy="418701"/>
          </a:xfrm>
          <a:prstGeom prst="roundRect">
            <a:avLst>
              <a:gd name="adj" fmla="val 16667"/>
            </a:avLst>
          </a:prstGeom>
          <a:noFill/>
          <a:ln w="5715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>
              <a:noFill/>
            </a:endParaRPr>
          </a:p>
        </p:txBody>
      </p:sp>
      <p:sp>
        <p:nvSpPr>
          <p:cNvPr id="62" name="Shape 414"/>
          <p:cNvSpPr/>
          <p:nvPr/>
        </p:nvSpPr>
        <p:spPr>
          <a:xfrm rot="10800000" flipH="1">
            <a:off x="6402124" y="3349306"/>
            <a:ext cx="656937" cy="418701"/>
          </a:xfrm>
          <a:prstGeom prst="roundRect">
            <a:avLst>
              <a:gd name="adj" fmla="val 16667"/>
            </a:avLst>
          </a:prstGeom>
          <a:noFill/>
          <a:ln w="5715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endParaRPr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4198480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281607" y="5337572"/>
            <a:ext cx="8622630" cy="1246743"/>
            <a:chOff x="281607" y="5150283"/>
            <a:chExt cx="8622630" cy="1246743"/>
          </a:xfrm>
        </p:grpSpPr>
        <p:sp>
          <p:nvSpPr>
            <p:cNvPr id="23" name="Rectangle 22"/>
            <p:cNvSpPr/>
            <p:nvPr/>
          </p:nvSpPr>
          <p:spPr>
            <a:xfrm rot="21329039">
              <a:off x="281607" y="6044486"/>
              <a:ext cx="2876642" cy="3525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Pentagon 23"/>
            <p:cNvSpPr/>
            <p:nvPr/>
          </p:nvSpPr>
          <p:spPr>
            <a:xfrm rot="20681430">
              <a:off x="3007292" y="5150283"/>
              <a:ext cx="5896945" cy="366823"/>
            </a:xfrm>
            <a:prstGeom prst="homePlat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smtClean="0"/>
                <a:t>    Rapid Technology Growth</a:t>
              </a:r>
              <a:endParaRPr lang="en-US" sz="14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of Assist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Roadmap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50634" y="1801252"/>
            <a:ext cx="1295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Fail Safe Manual Steering</a:t>
            </a:r>
            <a:endParaRPr lang="en-US" sz="1400" dirty="0"/>
          </a:p>
        </p:txBody>
      </p:sp>
      <p:sp>
        <p:nvSpPr>
          <p:cNvPr id="4" name="Pentagon 3"/>
          <p:cNvSpPr/>
          <p:nvPr/>
        </p:nvSpPr>
        <p:spPr>
          <a:xfrm>
            <a:off x="1622234" y="2106052"/>
            <a:ext cx="381000" cy="38100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079434" y="1801252"/>
            <a:ext cx="1295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Automotive Standard Functional Safety</a:t>
            </a:r>
            <a:endParaRPr lang="en-US" sz="1400" dirty="0"/>
          </a:p>
        </p:txBody>
      </p:sp>
      <p:sp>
        <p:nvSpPr>
          <p:cNvPr id="6" name="Pentagon 5"/>
          <p:cNvSpPr/>
          <p:nvPr/>
        </p:nvSpPr>
        <p:spPr>
          <a:xfrm>
            <a:off x="3451034" y="2106052"/>
            <a:ext cx="381000" cy="38100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908234" y="1801252"/>
            <a:ext cx="1295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Enhanced Comfort in Faulted State</a:t>
            </a:r>
            <a:endParaRPr lang="en-US" sz="1400" dirty="0"/>
          </a:p>
        </p:txBody>
      </p:sp>
      <p:sp>
        <p:nvSpPr>
          <p:cNvPr id="8" name="Pentagon 7"/>
          <p:cNvSpPr/>
          <p:nvPr/>
        </p:nvSpPr>
        <p:spPr>
          <a:xfrm>
            <a:off x="5279834" y="2106052"/>
            <a:ext cx="381000" cy="38100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737034" y="1801252"/>
            <a:ext cx="1295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Reduced Failure </a:t>
            </a:r>
            <a:r>
              <a:rPr lang="en-US" sz="1400" dirty="0"/>
              <a:t>/ Warranty Rate </a:t>
            </a:r>
          </a:p>
        </p:txBody>
      </p:sp>
      <p:sp>
        <p:nvSpPr>
          <p:cNvPr id="10" name="Pentagon 9"/>
          <p:cNvSpPr/>
          <p:nvPr/>
        </p:nvSpPr>
        <p:spPr>
          <a:xfrm>
            <a:off x="7108634" y="2106052"/>
            <a:ext cx="381000" cy="38100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565834" y="1801252"/>
            <a:ext cx="1295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Fail Operational Steering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22034" y="3020452"/>
            <a:ext cx="1752600" cy="1959172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5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09538" indent="-109538">
              <a:buFont typeface="Arial" pitchFamily="34" charset="0"/>
              <a:buChar char="•"/>
            </a:pPr>
            <a:r>
              <a:rPr lang="en-US" sz="1200" dirty="0"/>
              <a:t>Most faults revert to manual steering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sz="1200" dirty="0"/>
              <a:t>Engineered to general functional safety standard (IEC 61508)</a:t>
            </a:r>
          </a:p>
          <a:p>
            <a:pPr marL="109538" indent="-109538">
              <a:buFont typeface="Arial" pitchFamily="34" charset="0"/>
              <a:buChar char="•"/>
            </a:pP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850834" y="3020452"/>
            <a:ext cx="1752600" cy="1959172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5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09538" indent="-109538">
              <a:buFont typeface="Arial" pitchFamily="34" charset="0"/>
              <a:buChar char="•"/>
            </a:pPr>
            <a:r>
              <a:rPr lang="en-US" sz="1200" dirty="0"/>
              <a:t>Most faults revert to manual steering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sz="1200" dirty="0"/>
              <a:t>Engineered to automotive functional safety standards (ISO 26262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3679634" y="3020452"/>
            <a:ext cx="1752600" cy="1959172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5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09538" indent="-109538">
              <a:buFont typeface="Arial" pitchFamily="34" charset="0"/>
              <a:buChar char="•"/>
            </a:pPr>
            <a:r>
              <a:rPr lang="en-US" sz="1200" b="1" dirty="0" smtClean="0"/>
              <a:t>SW backup </a:t>
            </a:r>
            <a:r>
              <a:rPr lang="en-US" sz="1200" dirty="0" smtClean="0"/>
              <a:t>functions with degraded performance for some faults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sz="1200" b="1" dirty="0" smtClean="0"/>
              <a:t>Diagnostics</a:t>
            </a:r>
            <a:r>
              <a:rPr lang="en-US" sz="1200" dirty="0" smtClean="0"/>
              <a:t> design to increase system availability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sz="1200" dirty="0" smtClean="0"/>
              <a:t>Utilize </a:t>
            </a:r>
            <a:r>
              <a:rPr lang="en-US" sz="1200" b="1" dirty="0"/>
              <a:t>existing </a:t>
            </a:r>
            <a:r>
              <a:rPr lang="en-US" sz="1200" b="1" dirty="0" smtClean="0"/>
              <a:t>HW</a:t>
            </a:r>
            <a:endParaRPr lang="en-US" sz="1200" b="1" dirty="0"/>
          </a:p>
        </p:txBody>
      </p:sp>
      <p:sp>
        <p:nvSpPr>
          <p:cNvPr id="16" name="Rectangle 15"/>
          <p:cNvSpPr/>
          <p:nvPr/>
        </p:nvSpPr>
        <p:spPr>
          <a:xfrm>
            <a:off x="5508434" y="3020452"/>
            <a:ext cx="1752600" cy="1959172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5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09538" indent="-109538">
              <a:buFont typeface="Arial" pitchFamily="34" charset="0"/>
              <a:buChar char="•"/>
            </a:pPr>
            <a:r>
              <a:rPr lang="en-US" sz="1200" b="1" dirty="0"/>
              <a:t>Limited HW redundancy </a:t>
            </a:r>
            <a:r>
              <a:rPr lang="en-US" sz="1200" dirty="0"/>
              <a:t>with full performance for some </a:t>
            </a:r>
            <a:r>
              <a:rPr lang="en-US" sz="1200" dirty="0" smtClean="0"/>
              <a:t>faults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sz="1200" b="1" dirty="0" smtClean="0"/>
              <a:t>Reduced failure rate </a:t>
            </a:r>
            <a:r>
              <a:rPr lang="en-US" sz="1200" dirty="0" smtClean="0"/>
              <a:t>HW design for some subsystems</a:t>
            </a:r>
            <a:endParaRPr lang="en-US" sz="1200" dirty="0"/>
          </a:p>
          <a:p>
            <a:pPr marL="109538" indent="-109538">
              <a:buFont typeface="Arial" pitchFamily="34" charset="0"/>
              <a:buChar char="•"/>
            </a:pPr>
            <a:r>
              <a:rPr lang="en-US" sz="1200" b="1" dirty="0"/>
              <a:t>SW backup </a:t>
            </a:r>
            <a:r>
              <a:rPr lang="en-US" sz="1200" dirty="0"/>
              <a:t>functions for some </a:t>
            </a:r>
            <a:r>
              <a:rPr lang="en-US" sz="1200" dirty="0" smtClean="0"/>
              <a:t>faults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7337234" y="3020452"/>
            <a:ext cx="1752600" cy="1959172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5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109538" indent="-109538">
              <a:buFont typeface="Arial" pitchFamily="34" charset="0"/>
              <a:buChar char="•"/>
            </a:pPr>
            <a:r>
              <a:rPr lang="en-US" sz="1200" b="1" dirty="0"/>
              <a:t>Full or degraded performance </a:t>
            </a:r>
            <a:r>
              <a:rPr lang="en-US" sz="1200" b="1" dirty="0" smtClean="0"/>
              <a:t>under all </a:t>
            </a:r>
            <a:r>
              <a:rPr lang="en-US" sz="1200" b="1" dirty="0"/>
              <a:t>faults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sz="1200" dirty="0"/>
              <a:t>R</a:t>
            </a:r>
            <a:r>
              <a:rPr lang="en-US" sz="1200" dirty="0" smtClean="0"/>
              <a:t>equired </a:t>
            </a:r>
            <a:r>
              <a:rPr lang="en-US" sz="1200" dirty="0"/>
              <a:t>for some </a:t>
            </a:r>
            <a:r>
              <a:rPr lang="en-US" sz="1200" b="1" dirty="0" smtClean="0"/>
              <a:t>ADAS / Autonomous driving</a:t>
            </a:r>
            <a:endParaRPr lang="en-US" sz="1200" dirty="0" smtClean="0"/>
          </a:p>
          <a:p>
            <a:pPr marL="109538" indent="-109538">
              <a:buFont typeface="Arial" pitchFamily="34" charset="0"/>
              <a:buChar char="•"/>
            </a:pPr>
            <a:r>
              <a:rPr lang="en-US" sz="1200" dirty="0" smtClean="0"/>
              <a:t>May be required for </a:t>
            </a:r>
            <a:r>
              <a:rPr lang="en-US" sz="1200" b="1" dirty="0" smtClean="0"/>
              <a:t>high load </a:t>
            </a:r>
            <a:r>
              <a:rPr lang="en-US" sz="1200" dirty="0" smtClean="0"/>
              <a:t>steering applications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575168" y="1344052"/>
            <a:ext cx="64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Past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326992" y="1354569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Today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207120" y="134405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2016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35921" y="134405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2017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797394" y="1354569"/>
            <a:ext cx="83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2019+</a:t>
            </a:r>
            <a:endParaRPr lang="en-US" dirty="0"/>
          </a:p>
        </p:txBody>
      </p:sp>
      <p:sp>
        <p:nvSpPr>
          <p:cNvPr id="27" name="Lightning Bolt 26"/>
          <p:cNvSpPr/>
          <p:nvPr/>
        </p:nvSpPr>
        <p:spPr>
          <a:xfrm>
            <a:off x="3014322" y="5728773"/>
            <a:ext cx="208515" cy="594911"/>
          </a:xfrm>
          <a:prstGeom prst="lightningBolt">
            <a:avLst/>
          </a:prstGeom>
          <a:gradFill>
            <a:gsLst>
              <a:gs pos="0">
                <a:srgbClr val="FFFF99"/>
              </a:gs>
              <a:gs pos="100000">
                <a:srgbClr val="FFFF99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355005" y="5245559"/>
            <a:ext cx="22289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Technology adoption rate accelerated by recent GM recalls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67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2641"/>
            <a:ext cx="8229600" cy="914400"/>
          </a:xfrm>
        </p:spPr>
        <p:txBody>
          <a:bodyPr/>
          <a:lstStyle/>
          <a:p>
            <a:r>
              <a:rPr lang="en-US" dirty="0" smtClean="0"/>
              <a:t>Dual Wound Motor &amp; Dual Inverter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558296" y="6657945"/>
            <a:ext cx="1699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smtClean="0"/>
              <a:t>Ken Webber Thanks to:  </a:t>
            </a:r>
            <a:r>
              <a:rPr lang="en-US" sz="700" dirty="0" err="1" smtClean="0"/>
              <a:t>Rakib</a:t>
            </a:r>
            <a:r>
              <a:rPr lang="en-US" sz="700" dirty="0" smtClean="0"/>
              <a:t> Islam</a:t>
            </a:r>
            <a:endParaRPr lang="en-US" sz="7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4371" y="1219200"/>
            <a:ext cx="8819931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0623" y="3716033"/>
            <a:ext cx="2757377" cy="2685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73689" y="4457581"/>
            <a:ext cx="2168222" cy="80021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Dual Wound Motor </a:t>
            </a:r>
          </a:p>
          <a:p>
            <a:r>
              <a:rPr lang="en-US" sz="1400" dirty="0" smtClean="0">
                <a:solidFill>
                  <a:srgbClr val="0070C0"/>
                </a:solidFill>
              </a:rPr>
              <a:t>(6-phase leads instead </a:t>
            </a:r>
          </a:p>
          <a:p>
            <a:r>
              <a:rPr lang="en-US" sz="1400" dirty="0" smtClean="0">
                <a:solidFill>
                  <a:srgbClr val="0070C0"/>
                </a:solidFill>
              </a:rPr>
              <a:t>of 3-phase leads)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9" name="Straight Connector 8"/>
          <p:cNvCxnSpPr>
            <a:stCxn id="4" idx="1"/>
          </p:cNvCxnSpPr>
          <p:nvPr/>
        </p:nvCxnSpPr>
        <p:spPr>
          <a:xfrm flipH="1" flipV="1">
            <a:off x="3657600" y="2819400"/>
            <a:ext cx="516089" cy="2038291"/>
          </a:xfrm>
          <a:prstGeom prst="line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1"/>
          </p:cNvCxnSpPr>
          <p:nvPr/>
        </p:nvCxnSpPr>
        <p:spPr>
          <a:xfrm flipH="1" flipV="1">
            <a:off x="2667000" y="4800600"/>
            <a:ext cx="1506689" cy="57091"/>
          </a:xfrm>
          <a:prstGeom prst="line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90464" y="5601570"/>
            <a:ext cx="2143536" cy="800219"/>
          </a:xfrm>
          <a:prstGeom prst="rect">
            <a:avLst/>
          </a:prstGeom>
          <a:solidFill>
            <a:srgbClr val="99FF33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Dual Inverter CCA </a:t>
            </a:r>
          </a:p>
          <a:p>
            <a:r>
              <a:rPr lang="en-US" sz="1400" dirty="0" smtClean="0"/>
              <a:t>(12-power FETs instead </a:t>
            </a:r>
          </a:p>
          <a:p>
            <a:r>
              <a:rPr lang="en-US" sz="1400" dirty="0" smtClean="0"/>
              <a:t>of 6-power FETs)</a:t>
            </a:r>
            <a:endParaRPr lang="en-US" sz="1400" dirty="0"/>
          </a:p>
        </p:txBody>
      </p:sp>
      <p:cxnSp>
        <p:nvCxnSpPr>
          <p:cNvPr id="16" name="Straight Connector 15"/>
          <p:cNvCxnSpPr/>
          <p:nvPr/>
        </p:nvCxnSpPr>
        <p:spPr>
          <a:xfrm flipH="1" flipV="1">
            <a:off x="2286000" y="5715000"/>
            <a:ext cx="838200" cy="286679"/>
          </a:xfrm>
          <a:prstGeom prst="line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81200" y="3962400"/>
            <a:ext cx="533400" cy="2133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0" y="5334000"/>
            <a:ext cx="3810000" cy="135421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Two Motor/Inverter solutions for:</a:t>
            </a:r>
          </a:p>
          <a:p>
            <a:r>
              <a:rPr lang="en-US" dirty="0" smtClean="0"/>
              <a:t>1. LOA- </a:t>
            </a:r>
            <a:r>
              <a:rPr lang="en-US" sz="1400" dirty="0" smtClean="0"/>
              <a:t>12/8 Dual Wound, Dual Inverter and Dual Micro</a:t>
            </a:r>
            <a:endParaRPr lang="en-US" sz="1400" dirty="0"/>
          </a:p>
          <a:p>
            <a:r>
              <a:rPr lang="en-US" dirty="0"/>
              <a:t>2. </a:t>
            </a:r>
            <a:r>
              <a:rPr lang="en-US" dirty="0" smtClean="0"/>
              <a:t>Performance- </a:t>
            </a:r>
            <a:r>
              <a:rPr lang="en-US" sz="1400" dirty="0" smtClean="0"/>
              <a:t>12/8 or 9/6 Dual Wound, Dual Inverter and </a:t>
            </a:r>
            <a:r>
              <a:rPr lang="en-US" sz="1400" dirty="0"/>
              <a:t>S</a:t>
            </a:r>
            <a:r>
              <a:rPr lang="en-US" sz="1400" dirty="0" smtClean="0"/>
              <a:t>ingle Micro. </a:t>
            </a:r>
            <a:endParaRPr lang="en-US" sz="1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1" r="15757"/>
          <a:stretch/>
        </p:blipFill>
        <p:spPr>
          <a:xfrm>
            <a:off x="6748530" y="818782"/>
            <a:ext cx="2195772" cy="184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5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595" y="4763089"/>
            <a:ext cx="2971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244" y="3709135"/>
            <a:ext cx="1416459" cy="123170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323" y="4956274"/>
            <a:ext cx="599004" cy="6016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lvl="0" indent="-228600">
              <a:spcBef>
                <a:spcPts val="480"/>
              </a:spcBef>
              <a:spcAft>
                <a:spcPts val="0"/>
              </a:spcAft>
            </a:pPr>
            <a:r>
              <a:rPr lang="en-US" dirty="0">
                <a:sym typeface="Arial"/>
              </a:rPr>
              <a:t>ECU minimization and MPP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11"/>
          </p:nvPr>
        </p:nvSpPr>
        <p:spPr>
          <a:xfrm>
            <a:off x="302652" y="1369452"/>
            <a:ext cx="8229600" cy="4419600"/>
          </a:xfrm>
        </p:spPr>
        <p:txBody>
          <a:bodyPr/>
          <a:lstStyle/>
          <a:p>
            <a:r>
              <a:rPr lang="en-US" dirty="0" smtClean="0"/>
              <a:t>Industry demands for more circuit</a:t>
            </a:r>
            <a:br>
              <a:rPr lang="en-US" dirty="0" smtClean="0"/>
            </a:br>
            <a:r>
              <a:rPr lang="en-US" dirty="0" smtClean="0"/>
              <a:t>content in future demands</a:t>
            </a:r>
          </a:p>
          <a:p>
            <a:r>
              <a:rPr lang="en-US" dirty="0" smtClean="0"/>
              <a:t>Industry demand for smaller packages</a:t>
            </a:r>
          </a:p>
          <a:p>
            <a:r>
              <a:rPr lang="en-US" dirty="0" smtClean="0"/>
              <a:t>Development work underway to:</a:t>
            </a:r>
          </a:p>
          <a:p>
            <a:pPr lvl="1"/>
            <a:r>
              <a:rPr lang="en-US" dirty="0" smtClean="0"/>
              <a:t>Reduce PCB trace spacing and increase component density</a:t>
            </a:r>
          </a:p>
          <a:p>
            <a:pPr lvl="1"/>
            <a:r>
              <a:rPr lang="en-US" dirty="0" smtClean="0"/>
              <a:t>Develop and use smaller components</a:t>
            </a:r>
          </a:p>
          <a:p>
            <a:pPr lvl="2"/>
            <a:r>
              <a:rPr lang="en-US" dirty="0" smtClean="0"/>
              <a:t>FETS,</a:t>
            </a:r>
            <a:r>
              <a:rPr lang="en-US" dirty="0"/>
              <a:t> </a:t>
            </a:r>
            <a:r>
              <a:rPr lang="en-US" dirty="0" smtClean="0"/>
              <a:t>EA 4.0 Micro, MSB sensor chips</a:t>
            </a:r>
            <a:endParaRPr lang="en-US" dirty="0"/>
          </a:p>
          <a:p>
            <a:pPr lvl="1"/>
            <a:r>
              <a:rPr lang="en-US" dirty="0" smtClean="0"/>
              <a:t>Blind and buried </a:t>
            </a:r>
            <a:r>
              <a:rPr lang="en-US" dirty="0" err="1" smtClean="0"/>
              <a:t>vias</a:t>
            </a:r>
            <a:r>
              <a:rPr lang="en-US" dirty="0" smtClean="0"/>
              <a:t>, combining </a:t>
            </a:r>
            <a:r>
              <a:rPr lang="en-US" dirty="0" err="1" smtClean="0"/>
              <a:t>vias</a:t>
            </a:r>
            <a:r>
              <a:rPr lang="en-US" dirty="0" smtClean="0"/>
              <a:t> and test points</a:t>
            </a:r>
          </a:p>
          <a:p>
            <a:pPr lvl="1"/>
            <a:r>
              <a:rPr lang="en-US" dirty="0" smtClean="0"/>
              <a:t>Separate single layer boards when required to:</a:t>
            </a:r>
          </a:p>
          <a:p>
            <a:pPr lvl="2"/>
            <a:r>
              <a:rPr lang="en-US" dirty="0" smtClean="0"/>
              <a:t>Optimize assembly with compliant pins</a:t>
            </a:r>
          </a:p>
          <a:p>
            <a:pPr lvl="2"/>
            <a:r>
              <a:rPr lang="en-US" dirty="0" smtClean="0"/>
              <a:t>Optimize header/</a:t>
            </a:r>
            <a:r>
              <a:rPr lang="en-US" dirty="0" err="1" smtClean="0"/>
              <a:t>leadframe</a:t>
            </a:r>
            <a:r>
              <a:rPr lang="en-US" dirty="0" smtClean="0"/>
              <a:t> cost and designs</a:t>
            </a:r>
          </a:p>
          <a:p>
            <a:pPr lvl="1"/>
            <a:r>
              <a:rPr lang="en-US" dirty="0" smtClean="0"/>
              <a:t>Smaller single layer/end mount still preferred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58" t="13543" r="11942" b="13220"/>
          <a:stretch/>
        </p:blipFill>
        <p:spPr bwMode="auto">
          <a:xfrm rot="5400000">
            <a:off x="5869862" y="775644"/>
            <a:ext cx="1942518" cy="1112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58" t="13543" r="11942" b="13220"/>
          <a:stretch/>
        </p:blipFill>
        <p:spPr bwMode="auto">
          <a:xfrm rot="5400000">
            <a:off x="7226774" y="1488133"/>
            <a:ext cx="1414532" cy="81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>
            <a:stCxn id="1027" idx="3"/>
            <a:endCxn id="6" idx="3"/>
          </p:cNvCxnSpPr>
          <p:nvPr/>
        </p:nvCxnSpPr>
        <p:spPr>
          <a:xfrm>
            <a:off x="6841121" y="2303126"/>
            <a:ext cx="1092919" cy="297312"/>
          </a:xfrm>
          <a:prstGeom prst="straightConnector1">
            <a:avLst/>
          </a:prstGeom>
          <a:ln>
            <a:solidFill>
              <a:srgbClr val="DC020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424679" y="593133"/>
            <a:ext cx="914400" cy="914400"/>
          </a:xfrm>
          <a:prstGeom prst="straightConnector1">
            <a:avLst/>
          </a:prstGeom>
          <a:ln>
            <a:solidFill>
              <a:srgbClr val="DC020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35278" y="4810034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10x10mm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8311852" y="5427147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5x6mm</a:t>
            </a:r>
            <a:endParaRPr lang="en-US" sz="1100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111" y="2964759"/>
            <a:ext cx="1160007" cy="937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770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PP-127: Optimize CCA Packaging</a:t>
            </a:r>
          </a:p>
        </p:txBody>
      </p:sp>
      <p:sp>
        <p:nvSpPr>
          <p:cNvPr id="194" name="Shape 194"/>
          <p:cNvSpPr txBox="1"/>
          <p:nvPr/>
        </p:nvSpPr>
        <p:spPr>
          <a:xfrm>
            <a:off x="152400" y="1143000"/>
            <a:ext cx="5943599" cy="5280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 lnSpcReduction="10000"/>
          </a:bodyPr>
          <a:lstStyle/>
          <a:p>
            <a:pPr marL="231775" lvl="0" indent="-231775" rtl="0">
              <a:spcBef>
                <a:spcPts val="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 Description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Reduce existing BMW CCA size by 25% using evolutionary design and component updates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Evaluate simple and reusable lead frame for connectors, inductor and bulk caps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Motivation (3)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Reduced CCA packaging 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Maintain CCA cost advantage vs. complex lead frame and multiple PCB designs used by competitors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Potential reuse of power lead frame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Deliverables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Build and evaluate development CCAs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Cost request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Leverage competitive analysis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Timing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1Q 2015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Team Members/Customers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Wayne Thomas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Ryan Yaklin</a:t>
            </a:r>
          </a:p>
        </p:txBody>
      </p:sp>
      <p:pic>
        <p:nvPicPr>
          <p:cNvPr id="195" name="Shape 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1255" y="3771607"/>
            <a:ext cx="3730199" cy="298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Shape 196"/>
          <p:cNvSpPr/>
          <p:nvPr/>
        </p:nvSpPr>
        <p:spPr>
          <a:xfrm>
            <a:off x="6025242" y="1153883"/>
            <a:ext cx="2814000" cy="2492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400" b="0" i="0" u="sng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Scope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Blind/Buried Vias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Vias in Pad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Point Optimization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 Packages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 Frame Development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Thermal Management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Planar Magnetics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Compliant Pins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Out Zones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▪"/>
            </a:pPr>
            <a:r>
              <a:rPr lang="en-US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 Requirements</a:t>
            </a:r>
          </a:p>
          <a:p>
            <a:pPr marL="285750" marR="0" lvl="0" indent="-196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931981"/>
      </p:ext>
    </p:extLst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PP-127: Optimize CCA Packaging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152400" y="1143000"/>
            <a:ext cx="5714999" cy="5280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/>
          </a:bodyPr>
          <a:lstStyle/>
          <a:p>
            <a:pPr marL="231775" lvl="0" indent="-231775" rtl="0">
              <a:spcBef>
                <a:spcPts val="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 Description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Modularize CCA into three units to allow stacking of boards </a:t>
            </a:r>
          </a:p>
          <a:p>
            <a:pPr marL="1092200" lvl="2" indent="-342900" rtl="0">
              <a:spcBef>
                <a:spcPts val="240"/>
              </a:spcBef>
              <a:buClr>
                <a:srgbClr val="E31937"/>
              </a:buClr>
              <a:buSzPct val="75000"/>
              <a:buFont typeface="Arial"/>
              <a:buChar char="➢"/>
            </a:pPr>
            <a:r>
              <a:rPr lang="en-US" sz="1200">
                <a:solidFill>
                  <a:srgbClr val="000000"/>
                </a:solidFill>
              </a:rPr>
              <a:t>Power (Bulk Caps, Common Mode Choke, Battery Disconnect)</a:t>
            </a:r>
          </a:p>
          <a:p>
            <a:pPr marL="1092200" lvl="2" indent="-342900" rtl="0">
              <a:spcBef>
                <a:spcPts val="240"/>
              </a:spcBef>
              <a:buClr>
                <a:srgbClr val="E31937"/>
              </a:buClr>
              <a:buSzPct val="75000"/>
              <a:buFont typeface="Arial"/>
              <a:buChar char="➢"/>
            </a:pPr>
            <a:r>
              <a:rPr lang="en-US" sz="1200">
                <a:solidFill>
                  <a:srgbClr val="000000"/>
                </a:solidFill>
              </a:rPr>
              <a:t>Motor drive circuit (FETs, Gate Drive)</a:t>
            </a:r>
          </a:p>
          <a:p>
            <a:pPr marL="1092200" lvl="2" indent="-342900" rtl="0">
              <a:spcBef>
                <a:spcPts val="240"/>
              </a:spcBef>
              <a:buClr>
                <a:srgbClr val="E31937"/>
              </a:buClr>
              <a:buSzPct val="75000"/>
              <a:buFont typeface="Arial"/>
              <a:buChar char="➢"/>
            </a:pPr>
            <a:r>
              <a:rPr lang="en-US" sz="1200">
                <a:solidFill>
                  <a:srgbClr val="000000"/>
                </a:solidFill>
              </a:rPr>
              <a:t>Logic (Microprocessor, HALL Sensor)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Motivation (-3)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Improved overall controller size to fit within motor diameter. (Customer packaging requirement)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Potential reuse of modules for other customers 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Deliverables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Validated design for BMW/Daimler IBK/MRA2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Timing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BMW/Daimler IBK/MRA2 SOP 2019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Team Members/Customers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Dan Klenk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Ryan Yaklin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Delynn Streng</a:t>
            </a:r>
          </a:p>
        </p:txBody>
      </p:sp>
      <p:pic>
        <p:nvPicPr>
          <p:cNvPr id="203" name="Shape 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1955121"/>
            <a:ext cx="1944899" cy="28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Shape 2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0217" y="4648200"/>
            <a:ext cx="4624799" cy="2209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1674500"/>
      </p:ext>
    </p:extLst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577262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 fontScale="9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baseline="0" dirty="0" smtClean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IBK/GM Golden Brick/Competitor</a:t>
            </a:r>
            <a:r>
              <a:rPr lang="en-US" sz="2800" b="1" i="0" u="none" strike="noStrike" cap="none" dirty="0" smtClean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Benchmark</a:t>
            </a:r>
            <a:endParaRPr sz="2800" b="1" i="0" u="none" strike="noStrike" cap="none" baseline="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" name="Shape 210"/>
          <p:cNvSpPr txBox="1">
            <a:spLocks noGrp="1"/>
          </p:cNvSpPr>
          <p:nvPr>
            <p:ph type="body" idx="4294967295"/>
          </p:nvPr>
        </p:nvSpPr>
        <p:spPr>
          <a:xfrm>
            <a:off x="457200" y="12954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/>
          </a:bodyPr>
          <a:lstStyle/>
          <a:p>
            <a:pPr marL="231775" marR="0" lvl="0" indent="-1174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2400" b="0" i="0" u="none" strike="noStrike" cap="none" baseline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1" name="Shape 211"/>
          <p:cNvSpPr txBox="1">
            <a:spLocks noGrp="1"/>
          </p:cNvSpPr>
          <p:nvPr>
            <p:ph type="sldNum" idx="4294967295"/>
          </p:nvPr>
        </p:nvSpPr>
        <p:spPr>
          <a:xfrm>
            <a:off x="8107363" y="6608763"/>
            <a:ext cx="685799" cy="228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 fontScale="62500" lnSpcReduction="20000"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  <p:pic>
        <p:nvPicPr>
          <p:cNvPr id="212" name="Shape 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7" y="1938175"/>
            <a:ext cx="8924925" cy="4162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1411492"/>
      </p:ext>
    </p:extLst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6781800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 fontScale="9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</a:t>
            </a:r>
            <a:r>
              <a:rPr lang="en-US" sz="2800" b="1">
                <a:solidFill>
                  <a:srgbClr val="C00000"/>
                </a:solidFill>
              </a:rPr>
              <a:t>144</a:t>
            </a: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 Absolute Handwheel Position Digital Sensor (Dual Spur Gear - SENT) </a:t>
            </a:r>
          </a:p>
        </p:txBody>
      </p:sp>
      <p:sp>
        <p:nvSpPr>
          <p:cNvPr id="142" name="Shape 142"/>
          <p:cNvSpPr txBox="1">
            <a:spLocks noGrp="1"/>
          </p:cNvSpPr>
          <p:nvPr>
            <p:ph type="body" idx="4294967295"/>
          </p:nvPr>
        </p:nvSpPr>
        <p:spPr>
          <a:xfrm>
            <a:off x="1524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Absolute Handwheel Position Sensor using </a:t>
            </a:r>
            <a:r>
              <a:rPr lang="en-US" sz="1600">
                <a:solidFill>
                  <a:schemeClr val="dk1"/>
                </a:solidFill>
              </a:rPr>
              <a:t>SENT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protocol to replace current </a:t>
            </a:r>
            <a:r>
              <a:rPr lang="en-US" sz="1600">
                <a:solidFill>
                  <a:schemeClr val="dk1"/>
                </a:solidFill>
              </a:rPr>
              <a:t>I2C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(</a:t>
            </a:r>
            <a:r>
              <a:rPr lang="en-US" sz="2000">
                <a:solidFill>
                  <a:schemeClr val="dk1"/>
                </a:solidFill>
              </a:rPr>
              <a:t>TBD</a:t>
            </a: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Electrical Architecture 4 compatibility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probe housing assembly for multiple programs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Calibration Equipment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GM </a:t>
            </a:r>
            <a:r>
              <a:rPr lang="en-US" sz="1600">
                <a:solidFill>
                  <a:schemeClr val="dk1"/>
                </a:solidFill>
              </a:rPr>
              <a:t>T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1xx (201</a:t>
            </a:r>
            <a:r>
              <a:rPr lang="en-US" sz="1600">
                <a:solidFill>
                  <a:schemeClr val="dk1"/>
                </a:solidFill>
              </a:rPr>
              <a:t>8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SOP)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Keith Kidder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Jim Hoppenrath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Joe Abate</a:t>
            </a:r>
          </a:p>
          <a:p>
            <a:pPr marL="688975" marR="0" lvl="1" indent="-2698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16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698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16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698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16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Shape 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4707" y="4679576"/>
            <a:ext cx="5255699" cy="2133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766765"/>
      </p:ext>
    </p:extLst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61721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PP-41: MTO Dual Pressure Sensor</a:t>
            </a:r>
          </a:p>
        </p:txBody>
      </p:sp>
      <p:sp>
        <p:nvSpPr>
          <p:cNvPr id="149" name="Shape 149"/>
          <p:cNvSpPr txBox="1">
            <a:spLocks noGrp="1"/>
          </p:cNvSpPr>
          <p:nvPr>
            <p:ph type="body" idx="4294967295"/>
          </p:nvPr>
        </p:nvSpPr>
        <p:spPr>
          <a:xfrm>
            <a:off x="152400" y="1143000"/>
            <a:ext cx="5714999" cy="5486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 Channel Pressure Sensor to support the MTO program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(4.5)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Enabler for MTO implementation 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Additional Business Opportunity for HPS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 Development with SMS (new supplier) 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GM K2xx – SOP 2015</a:t>
            </a:r>
          </a:p>
          <a:p>
            <a:pPr marL="34925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20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Keith Kidder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Brenda Martin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Jason Dutsky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Jordan Roe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Joel Birsching</a:t>
            </a:r>
          </a:p>
          <a:p>
            <a:pPr marL="688975" marR="0" lvl="1" indent="-2698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16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698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16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698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Font typeface="Georgia"/>
              <a:buNone/>
            </a:pPr>
            <a:endParaRPr sz="16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Shape 150"/>
          <p:cNvPicPr preferRelativeResize="0"/>
          <p:nvPr/>
        </p:nvPicPr>
        <p:blipFill rotWithShape="1">
          <a:blip r:embed="rId3">
            <a:alphaModFix/>
          </a:blip>
          <a:srcRect l="3486"/>
          <a:stretch/>
        </p:blipFill>
        <p:spPr>
          <a:xfrm>
            <a:off x="4572000" y="3810000"/>
            <a:ext cx="4219575" cy="278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9110861"/>
      </p:ext>
    </p:extLst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PP-69: Compliant Pins (MTO)</a:t>
            </a:r>
          </a:p>
        </p:txBody>
      </p:sp>
      <p:pic>
        <p:nvPicPr>
          <p:cNvPr id="156" name="Shape 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3053" y="1524000"/>
            <a:ext cx="2853900" cy="22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Shape 1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0285" y="4442012"/>
            <a:ext cx="3419399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Shape 158"/>
          <p:cNvSpPr txBox="1"/>
          <p:nvPr/>
        </p:nvSpPr>
        <p:spPr>
          <a:xfrm>
            <a:off x="152400" y="1143000"/>
            <a:ext cx="5714999" cy="5280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 lnSpcReduction="10000"/>
          </a:bodyPr>
          <a:lstStyle/>
          <a:p>
            <a:pPr marL="231775" lvl="0" indent="-231775" rtl="0">
              <a:spcBef>
                <a:spcPts val="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 Description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Utilize compliant pins for CCA retention to housing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Utilize compliant pins for electrical connections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Motivation (</a:t>
            </a:r>
            <a:r>
              <a:rPr lang="en-US" sz="2000"/>
              <a:t>7</a:t>
            </a:r>
            <a:r>
              <a:rPr lang="en-US" sz="2000">
                <a:solidFill>
                  <a:srgbClr val="000000"/>
                </a:solidFill>
              </a:rPr>
              <a:t>)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Improved mechanical retention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Elimination of PTH processes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Eliminate solder cracking due to thermal expansion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Concern about solder joint fatigue with limited package space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Deliverables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Validated design for GM K2xx MTO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Timing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GM K2xx MTO SOP 2015</a:t>
            </a:r>
          </a:p>
          <a:p>
            <a:pPr marL="349250" lvl="0" indent="-349250" rtl="0">
              <a:spcBef>
                <a:spcPts val="400"/>
              </a:spcBef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>
                <a:solidFill>
                  <a:srgbClr val="000000"/>
                </a:solidFill>
              </a:rPr>
              <a:t>Team Members/Customers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Dan Klenk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Thomas Rytlewski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Brenda Martin</a:t>
            </a:r>
          </a:p>
          <a:p>
            <a:pPr marL="688975" lvl="1" indent="-346075" rtl="0">
              <a:spcBef>
                <a:spcPts val="320"/>
              </a:spcBef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rgbClr val="000000"/>
                </a:solidFill>
              </a:rPr>
              <a:t>Jordan Roe</a:t>
            </a:r>
          </a:p>
        </p:txBody>
      </p:sp>
    </p:spTree>
    <p:extLst>
      <p:ext uri="{BB962C8B-B14F-4D97-AF65-F5344CB8AC3E}">
        <p14:creationId xmlns:p14="http://schemas.microsoft.com/office/powerpoint/2010/main" val="4081671413"/>
      </p:ext>
    </p:extLst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 fontScale="9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PP-123: Optimized High Output Motor Design (Rotor Diameter?)</a:t>
            </a:r>
          </a:p>
        </p:txBody>
      </p:sp>
      <p:sp>
        <p:nvSpPr>
          <p:cNvPr id="173" name="Shape 173"/>
          <p:cNvSpPr txBox="1">
            <a:spLocks noGrp="1"/>
          </p:cNvSpPr>
          <p:nvPr>
            <p:ph type="body" idx="4294967295"/>
          </p:nvPr>
        </p:nvSpPr>
        <p:spPr>
          <a:xfrm>
            <a:off x="152400" y="11430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 lnSpcReduction="10000"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Develop High Output Motor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( </a:t>
            </a:r>
            <a:r>
              <a:rPr lang="en-US" sz="2000">
                <a:solidFill>
                  <a:schemeClr val="dk1"/>
                </a:solidFill>
              </a:rPr>
              <a:t>5</a:t>
            </a: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Reduce Overall Packaging Length of Motor Power Pack to aid in Customer Packaging Requirement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if Larger OD Rotor is a Output Advantage</a:t>
            </a:r>
          </a:p>
          <a:p>
            <a:pPr marL="457200" marR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endParaRPr/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PSA 1V5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600">
                <a:solidFill>
                  <a:schemeClr val="dk1"/>
                </a:solidFill>
              </a:rPr>
              <a:t>2016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SOP)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Rakib Islam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Steve Collier-Hallman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Ken Webber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John Redwine</a:t>
            </a:r>
          </a:p>
          <a:p>
            <a:pPr marL="688975" marR="0" lvl="1" indent="-37147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Brian Williams</a:t>
            </a:r>
          </a:p>
        </p:txBody>
      </p:sp>
      <p:pic>
        <p:nvPicPr>
          <p:cNvPr id="174" name="Shape 174"/>
          <p:cNvPicPr preferRelativeResize="0"/>
          <p:nvPr/>
        </p:nvPicPr>
        <p:blipFill rotWithShape="1">
          <a:blip r:embed="rId3">
            <a:alphaModFix/>
          </a:blip>
          <a:srcRect l="37412" t="30392" r="16421" b="31002"/>
          <a:stretch/>
        </p:blipFill>
        <p:spPr>
          <a:xfrm>
            <a:off x="4117775" y="4234825"/>
            <a:ext cx="4721425" cy="221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256830"/>
      </p:ext>
    </p:extLst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64007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 fontScale="9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PP-124: Cost Optimized Motor Design (IPM/skew/pole shape/WIH)</a:t>
            </a:r>
          </a:p>
        </p:txBody>
      </p:sp>
      <p:sp>
        <p:nvSpPr>
          <p:cNvPr id="180" name="Shape 180"/>
          <p:cNvSpPr txBox="1">
            <a:spLocks noGrp="1"/>
          </p:cNvSpPr>
          <p:nvPr>
            <p:ph type="body" idx="4294967295"/>
          </p:nvPr>
        </p:nvSpPr>
        <p:spPr>
          <a:xfrm>
            <a:off x="152400" y="11430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 lnSpcReduction="10000"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Develop Cost Optimized Motor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( </a:t>
            </a:r>
            <a:r>
              <a:rPr lang="en-US" sz="2000">
                <a:solidFill>
                  <a:schemeClr val="dk1"/>
                </a:solidFill>
              </a:rPr>
              <a:t>10</a:t>
            </a: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Reduce Material cost in Motor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if Larger OD Rotor is a Cost Advantage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if Higher Grade Magnets vs cost is a feasible option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which stator / winding  design is optimal for cost</a:t>
            </a:r>
          </a:p>
          <a:p>
            <a:pPr marL="688975" marR="0" lvl="1" indent="-37147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if shape of magnet has cost impact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PSA 1V5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600">
                <a:solidFill>
                  <a:schemeClr val="dk1"/>
                </a:solidFill>
              </a:rPr>
              <a:t>2016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SOP)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Rakib Islam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Bryan Williams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Ken Webber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Steve Collier-Hallman</a:t>
            </a:r>
          </a:p>
          <a:p>
            <a:pPr marL="688975" marR="0" lvl="1" indent="-37147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John Redwine</a:t>
            </a:r>
          </a:p>
        </p:txBody>
      </p:sp>
      <p:pic>
        <p:nvPicPr>
          <p:cNvPr id="181" name="Shape 181"/>
          <p:cNvPicPr preferRelativeResize="0"/>
          <p:nvPr/>
        </p:nvPicPr>
        <p:blipFill rotWithShape="1">
          <a:blip r:embed="rId3">
            <a:alphaModFix/>
          </a:blip>
          <a:srcRect l="36834" t="26923" r="17116" b="19972"/>
          <a:stretch/>
        </p:blipFill>
        <p:spPr>
          <a:xfrm>
            <a:off x="4796125" y="3999700"/>
            <a:ext cx="4108825" cy="26640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1765848"/>
      </p:ext>
    </p:extLst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64007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PP-126: Heat Management for Motor</a:t>
            </a:r>
          </a:p>
        </p:txBody>
      </p:sp>
      <p:sp>
        <p:nvSpPr>
          <p:cNvPr id="187" name="Shape 187"/>
          <p:cNvSpPr txBox="1">
            <a:spLocks noGrp="1"/>
          </p:cNvSpPr>
          <p:nvPr>
            <p:ph type="body" idx="4294967295"/>
          </p:nvPr>
        </p:nvSpPr>
        <p:spPr>
          <a:xfrm>
            <a:off x="152400" y="11430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 fontScale="92500" lnSpcReduction="10000"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Reduce Motor generated heat from Segment/Needle Stator designs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( </a:t>
            </a:r>
            <a:r>
              <a:rPr lang="en-US" sz="2000">
                <a:solidFill>
                  <a:schemeClr val="dk1"/>
                </a:solidFill>
              </a:rPr>
              <a:t>9</a:t>
            </a: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Segment and Needle Wind Motors with plastic Insulators generate more heat than Shed Wound motors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if gap filler can be added prior to winding to get direct heat transfer to stator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if thermally conductive coatings (Bergquist epoxy coat) on stator instead of plastic insulator reduces motor thermals.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Determine which stator / winding  design is optimal for thermals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BMW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600">
                <a:solidFill>
                  <a:schemeClr val="dk1"/>
                </a:solidFill>
              </a:rPr>
              <a:t>2014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600">
                <a:solidFill>
                  <a:schemeClr val="dk1"/>
                </a:solidFill>
              </a:rPr>
              <a:t>Nov.</a:t>
            </a:r>
            <a:r>
              <a:rPr lang="en-US" sz="16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Rakib Islam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Bryan Williams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Ken Webber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Joanne Tersigni</a:t>
            </a:r>
          </a:p>
          <a:p>
            <a:pPr marL="688975" marR="0" lvl="1" indent="-37147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>
                <a:solidFill>
                  <a:schemeClr val="dk1"/>
                </a:solidFill>
              </a:rPr>
              <a:t>Julie Kleinau</a:t>
            </a:r>
          </a:p>
        </p:txBody>
      </p:sp>
      <p:pic>
        <p:nvPicPr>
          <p:cNvPr id="188" name="Shape 188"/>
          <p:cNvPicPr preferRelativeResize="0"/>
          <p:nvPr/>
        </p:nvPicPr>
        <p:blipFill rotWithShape="1">
          <a:blip r:embed="rId3">
            <a:alphaModFix/>
          </a:blip>
          <a:srcRect l="38157" t="28771" r="18707" b="19740"/>
          <a:stretch/>
        </p:blipFill>
        <p:spPr>
          <a:xfrm>
            <a:off x="4952175" y="4150250"/>
            <a:ext cx="3721625" cy="2497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3016302"/>
      </p:ext>
    </p:extLst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5943600" cy="914400"/>
          </a:xfrm>
        </p:spPr>
        <p:txBody>
          <a:bodyPr/>
          <a:lstStyle/>
          <a:p>
            <a:r>
              <a:rPr lang="en-US" dirty="0" smtClean="0"/>
              <a:t>CEPS Low Cost Low </a:t>
            </a:r>
            <a:r>
              <a:rPr lang="en-US" dirty="0"/>
              <a:t>Output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152400" y="1066800"/>
            <a:ext cx="8305800" cy="5562600"/>
          </a:xfrm>
          <a:prstGeom prst="rect">
            <a:avLst/>
          </a:prstGeom>
        </p:spPr>
        <p:txBody>
          <a:bodyPr/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Description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A CEPS assembly for low torque applications (&lt;45 Nm) which employs brushless motor technology and exploring higher worm/gear ratio.</a:t>
            </a:r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Motivation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Reduce FTQ noise issues seen with current brush motor of low output CEPS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Reduce CEPS brushless assist assembly cost (similar to brush system)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Deliverables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Phase I- 28:1 issue generation and verification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Packaging comparison to 15:1 and 22:1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System configuration / architecture concepts and selection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Design and develop initial prototype system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Initial Cost/MSD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Performance results:  bench and vehicle 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Timing</a:t>
            </a:r>
          </a:p>
          <a:p>
            <a:pPr lvl="1" eaLnBrk="1" hangingPunct="1"/>
            <a:r>
              <a:rPr lang="en-US" sz="1400" dirty="0" smtClean="0">
                <a:latin typeface="Arial" pitchFamily="34" charset="0"/>
                <a:cs typeface="Arial" pitchFamily="34" charset="0"/>
              </a:rPr>
              <a:t>Old research gathering					May 2014</a:t>
            </a:r>
          </a:p>
          <a:p>
            <a:pPr lvl="1" eaLnBrk="1" hangingPunct="1"/>
            <a:r>
              <a:rPr lang="en-US" sz="1400" dirty="0" smtClean="0">
                <a:latin typeface="Arial" pitchFamily="34" charset="0"/>
                <a:cs typeface="Arial" pitchFamily="34" charset="0"/>
              </a:rPr>
              <a:t>Concept development and analysis / Selection: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	July 2014</a:t>
            </a:r>
          </a:p>
          <a:p>
            <a:pPr lvl="1" eaLnBrk="1" hangingPunct="1"/>
            <a:r>
              <a:rPr lang="en-US" sz="1400" dirty="0" smtClean="0">
                <a:latin typeface="Arial" pitchFamily="34" charset="0"/>
                <a:cs typeface="Arial" pitchFamily="34" charset="0"/>
              </a:rPr>
              <a:t>Concept design and build: 		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	October 2014</a:t>
            </a:r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Team Members/Customers</a:t>
            </a:r>
          </a:p>
          <a:p>
            <a:pPr lvl="1"/>
            <a:r>
              <a:rPr lang="en-US" sz="1400" dirty="0" smtClean="0">
                <a:latin typeface="Arial" pitchFamily="34" charset="0"/>
                <a:cs typeface="Arial" pitchFamily="34" charset="0"/>
              </a:rPr>
              <a:t>Steve Collier-Hallman, Brian Magnus, Rakib Islam, Paul Fisher, Jeff </a:t>
            </a: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Beyerlein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, Joel Bickel </a:t>
            </a: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532" y="3113314"/>
            <a:ext cx="253413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31762"/>
              </p:ext>
            </p:extLst>
          </p:nvPr>
        </p:nvGraphicFramePr>
        <p:xfrm>
          <a:off x="8001000" y="1447800"/>
          <a:ext cx="351758" cy="296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Macro-Enabled Worksheet" showAsIcon="1" r:id="rId5" imgW="914400" imgH="771480" progId="Excel.SheetMacroEnabled.12">
                  <p:embed/>
                </p:oleObj>
              </mc:Choice>
              <mc:Fallback>
                <p:oleObj name="Macro-Enabled Worksheet" showAsIcon="1" r:id="rId5" imgW="914400" imgH="77148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01000" y="1447800"/>
                        <a:ext cx="351758" cy="296796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96030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927100"/>
            <a:ext cx="8382000" cy="5638800"/>
          </a:xfrm>
          <a:prstGeom prst="rect">
            <a:avLst/>
          </a:prstGeom>
        </p:spPr>
        <p:txBody>
          <a:bodyPr/>
          <a:lstStyle>
            <a:lvl1pPr marL="231775" indent="-231775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225425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Font typeface="Symbol" charset="2"/>
              <a:buChar char="-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74725" indent="-228600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Font typeface="Wingdings" charset="2"/>
              <a:buChar char="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317625" indent="-228600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Font typeface="Wingdings" charset="2"/>
              <a:buChar char="n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16088" indent="-228600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Char char="–"/>
              <a:defRPr sz="1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173288" indent="-228600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Char char="–"/>
              <a:defRPr sz="14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30488" indent="-228600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Char char="–"/>
              <a:defRPr sz="14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087688" indent="-228600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Char char="–"/>
              <a:defRPr sz="14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544888" indent="-228600" algn="l" defTabSz="738188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C0202"/>
              </a:buClr>
              <a:buSzPct val="75000"/>
              <a:buChar char="–"/>
              <a:defRPr sz="14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sz="1800" dirty="0" smtClean="0"/>
              <a:t>Study of multiple worm gear designs completed</a:t>
            </a:r>
          </a:p>
          <a:p>
            <a:pPr lvl="1"/>
            <a:r>
              <a:rPr lang="en-US" sz="1400" dirty="0" smtClean="0"/>
              <a:t>Packaging size (goal to fit in current 15:1 or 22:1 package)</a:t>
            </a:r>
          </a:p>
          <a:p>
            <a:pPr lvl="1"/>
            <a:r>
              <a:rPr lang="en-US" sz="1400" dirty="0" smtClean="0"/>
              <a:t>Gear pattern analysis</a:t>
            </a:r>
          </a:p>
          <a:p>
            <a:pPr lvl="1"/>
            <a:r>
              <a:rPr lang="en-US" sz="1400" dirty="0" smtClean="0"/>
              <a:t>Load capacity analysis</a:t>
            </a:r>
            <a:endParaRPr lang="en-US" sz="1800" dirty="0" smtClean="0"/>
          </a:p>
          <a:p>
            <a:r>
              <a:rPr lang="en-US" sz="1800" dirty="0" smtClean="0"/>
              <a:t>Three designs chosen to build and evaluate</a:t>
            </a:r>
          </a:p>
          <a:p>
            <a:pPr lvl="1"/>
            <a:r>
              <a:rPr lang="en-US" sz="1400" dirty="0" smtClean="0"/>
              <a:t>28:1, 43.75 mm CD (SGMW), 80.21 mm OD (slightly larger than SGMW), 11 mm wide </a:t>
            </a:r>
          </a:p>
          <a:p>
            <a:pPr lvl="1"/>
            <a:r>
              <a:rPr lang="en-US" sz="1400" dirty="0" smtClean="0"/>
              <a:t>30:1, 43.75 mm CD (SGMW), 80.27 mm OD (slightly larger than SGMW), 14 mm wide </a:t>
            </a:r>
          </a:p>
          <a:p>
            <a:pPr lvl="1"/>
            <a:r>
              <a:rPr lang="en-US" sz="1400" dirty="0" smtClean="0"/>
              <a:t>31:1, 52.00 mm CD (Gamma), 95.92 mm OD (slightly larger than Gamma), 11 mm wide</a:t>
            </a:r>
          </a:p>
          <a:p>
            <a:pPr lvl="1"/>
            <a:endParaRPr lang="en-US" sz="1400" dirty="0"/>
          </a:p>
          <a:p>
            <a:pPr lvl="1"/>
            <a:endParaRPr lang="en-US" sz="1400" dirty="0" smtClean="0"/>
          </a:p>
          <a:p>
            <a:pPr lvl="1"/>
            <a:endParaRPr lang="en-US" sz="1400" dirty="0" smtClean="0"/>
          </a:p>
          <a:p>
            <a:pPr marL="346075" lvl="1" indent="0">
              <a:buNone/>
            </a:pPr>
            <a:endParaRPr lang="en-US" sz="14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Prints for gear hobs, worm shaft blanks, worm shafts, and gears are complete and are either at quoting or ordered</a:t>
            </a:r>
          </a:p>
          <a:p>
            <a:r>
              <a:rPr lang="en-US" sz="1800" dirty="0" smtClean="0"/>
              <a:t>NVH running noise test set-up design complete; drawings in process</a:t>
            </a:r>
          </a:p>
          <a:p>
            <a:endParaRPr lang="en-US" sz="1800" dirty="0" smtClean="0"/>
          </a:p>
          <a:p>
            <a:endParaRPr lang="en-US" sz="1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571" y="3156857"/>
            <a:ext cx="1567543" cy="1123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601" y="4608259"/>
            <a:ext cx="1059481" cy="34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97" y="3156857"/>
            <a:ext cx="2671273" cy="190177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5943600" cy="914400"/>
          </a:xfrm>
        </p:spPr>
        <p:txBody>
          <a:bodyPr/>
          <a:lstStyle/>
          <a:p>
            <a:r>
              <a:rPr lang="en-US" dirty="0" smtClean="0"/>
              <a:t>CEPS Low Cost Low </a:t>
            </a:r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413986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067800" cy="914400"/>
          </a:xfrm>
        </p:spPr>
        <p:txBody>
          <a:bodyPr/>
          <a:lstStyle/>
          <a:p>
            <a:r>
              <a:rPr lang="en-US" dirty="0" smtClean="0"/>
              <a:t>PM Synchronous Reluctance Motor and Control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447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7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7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9" name="Shape 103"/>
          <p:cNvSpPr txBox="1">
            <a:spLocks noGrp="1"/>
          </p:cNvSpPr>
          <p:nvPr>
            <p:ph type="body" idx="4294967295"/>
          </p:nvPr>
        </p:nvSpPr>
        <p:spPr>
          <a:xfrm>
            <a:off x="457200" y="937986"/>
            <a:ext cx="8173200" cy="5181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31775" marR="0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Description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Develop PM Synchronous motor and controls for EPS</a:t>
            </a:r>
          </a:p>
          <a:p>
            <a:pPr marL="231775" marR="0" lvl="0" indent="-23177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Motivation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Reduce dependence on rare Earth metals (</a:t>
            </a:r>
            <a:r>
              <a:rPr lang="en-US" sz="1600" b="0" i="0" u="none" strike="noStrike" cap="none" baseline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Dy</a:t>
            </a: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free)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Reduce motor cost (magnet material volume reduction)</a:t>
            </a:r>
          </a:p>
          <a:p>
            <a:pPr marL="231775" marR="0" lvl="0" indent="-23177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Deliverables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Electromagnetic and mechanical design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Sensitivity analysis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Build prototype parts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Modified/new control algorithms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Power off and on </a:t>
            </a:r>
            <a:r>
              <a:rPr lang="en-US" sz="1600" b="0" i="0" u="none" strike="noStrike" cap="none" baseline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dyno</a:t>
            </a: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test results</a:t>
            </a:r>
          </a:p>
          <a:p>
            <a:pPr marL="231775" marR="0" lvl="0" indent="-23177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Timing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Analysis and design by Q4 2014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Procure components and build prototype motors by Q2 2015</a:t>
            </a:r>
          </a:p>
          <a:p>
            <a:pPr marL="571500" marR="0" lvl="1" indent="-254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100000"/>
              <a:buFont typeface="Arial"/>
              <a:buChar char="−"/>
            </a:pPr>
            <a:r>
              <a:rPr lang="en-US" sz="16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Test motors and quantify speed/torque, cogging and torque ripple performance end of Q2</a:t>
            </a:r>
          </a:p>
          <a:p>
            <a:pPr marL="231775" marR="0" lvl="0" indent="-23177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Team Members/Customers</a:t>
            </a:r>
          </a:p>
          <a:p>
            <a:pPr marL="5715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Alejandro Ortega, Brian Magnus, Dennis Skellenger/ Neal Roller, </a:t>
            </a:r>
            <a:r>
              <a:rPr lang="en-US" sz="1800" b="0" i="0" u="none" strike="noStrike" cap="none" baseline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Rakib</a:t>
            </a: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Islam, Julie </a:t>
            </a:r>
            <a:r>
              <a:rPr lang="en-US" sz="1800" b="0" i="0" u="none" strike="noStrike" cap="none" baseline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rPr>
              <a:t>Kleinau</a:t>
            </a:r>
            <a:endParaRPr lang="en-US" sz="18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pic>
        <p:nvPicPr>
          <p:cNvPr id="10" name="Shape 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44400" y="2395793"/>
            <a:ext cx="2286000" cy="2266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5146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076755"/>
              </p:ext>
            </p:extLst>
          </p:nvPr>
        </p:nvGraphicFramePr>
        <p:xfrm>
          <a:off x="8001000" y="1447800"/>
          <a:ext cx="351758" cy="296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Macro-Enabled Worksheet" showAsIcon="1" r:id="rId4" imgW="914400" imgH="771480" progId="Excel.SheetMacroEnabled.12">
                  <p:embed/>
                </p:oleObj>
              </mc:Choice>
              <mc:Fallback>
                <p:oleObj name="Macro-Enabled Worksheet" showAsIcon="1" r:id="rId4" imgW="914400" imgH="77148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01000" y="1447800"/>
                        <a:ext cx="351758" cy="296796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hape 103"/>
          <p:cNvSpPr txBox="1">
            <a:spLocks noGrp="1"/>
          </p:cNvSpPr>
          <p:nvPr>
            <p:ph type="body" idx="4294967295"/>
          </p:nvPr>
        </p:nvSpPr>
        <p:spPr>
          <a:xfrm>
            <a:off x="323850" y="1300979"/>
            <a:ext cx="8001000" cy="472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800" dirty="0">
                <a:solidFill>
                  <a:schemeClr val="dk1"/>
                </a:solidFill>
              </a:rPr>
              <a:t>Develop torque sensor for EPS application</a:t>
            </a:r>
          </a:p>
          <a:p>
            <a:pPr marL="231775" marR="0" lvl="0" indent="-231775" algn="l" rtl="0">
              <a:spcBef>
                <a:spcPts val="48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96428"/>
              <a:buFont typeface="Arial"/>
              <a:buChar char="−"/>
            </a:pPr>
            <a:r>
              <a:rPr lang="en-US" dirty="0"/>
              <a:t>Reduce size of the sensor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96428"/>
              <a:buFont typeface="Arial"/>
              <a:buChar char="−"/>
            </a:pPr>
            <a:r>
              <a:rPr lang="en-US" dirty="0"/>
              <a:t>Reduce cost of the sensor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96428"/>
              <a:buFont typeface="Arial"/>
              <a:buChar char="−"/>
            </a:pPr>
            <a:r>
              <a:rPr lang="en-US" dirty="0"/>
              <a:t>Improve sensor performance</a:t>
            </a:r>
          </a:p>
          <a:p>
            <a:pPr marL="231775" marR="0" lvl="0" indent="-231775" algn="l" rtl="0">
              <a:spcBef>
                <a:spcPts val="48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800" dirty="0">
                <a:solidFill>
                  <a:schemeClr val="dk1"/>
                </a:solidFill>
              </a:rPr>
              <a:t>Next generation design</a:t>
            </a:r>
          </a:p>
          <a:p>
            <a:pPr marL="231775" marR="0" lvl="0" indent="-231775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Timing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800" dirty="0">
                <a:solidFill>
                  <a:schemeClr val="dk1"/>
                </a:solidFill>
              </a:rPr>
              <a:t>?</a:t>
            </a:r>
          </a:p>
          <a:p>
            <a:pPr marL="231775" marR="0" lvl="0" indent="-231775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Team Members/Customers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800" dirty="0" err="1">
                <a:solidFill>
                  <a:schemeClr val="dk1"/>
                </a:solidFill>
              </a:rPr>
              <a:t>Subhra</a:t>
            </a:r>
            <a:r>
              <a:rPr lang="en-US" sz="1800" dirty="0">
                <a:solidFill>
                  <a:schemeClr val="dk1"/>
                </a:solidFill>
              </a:rPr>
              <a:t> Paul</a:t>
            </a: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1800" dirty="0" err="1">
                <a:solidFill>
                  <a:schemeClr val="dk1"/>
                </a:solidFill>
              </a:rPr>
              <a:t>Rakib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smtClean="0">
                <a:solidFill>
                  <a:schemeClr val="dk1"/>
                </a:solidFill>
              </a:rPr>
              <a:t>Islam, Keith Kidder</a:t>
            </a:r>
            <a:endParaRPr lang="en-US" sz="1800" dirty="0">
              <a:solidFill>
                <a:schemeClr val="dk1"/>
              </a:solidFill>
            </a:endParaRPr>
          </a:p>
        </p:txBody>
      </p:sp>
      <p:pic>
        <p:nvPicPr>
          <p:cNvPr id="6" name="Shape 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5171" y="2122714"/>
            <a:ext cx="4598402" cy="32251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199" y="76200"/>
            <a:ext cx="7195458" cy="914400"/>
          </a:xfrm>
        </p:spPr>
        <p:txBody>
          <a:bodyPr/>
          <a:lstStyle/>
          <a:p>
            <a:r>
              <a:rPr lang="en-US" dirty="0" smtClean="0"/>
              <a:t>Low Cost Small Diameter Torque Sensor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3786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5943600" cy="914400"/>
          </a:xfrm>
        </p:spPr>
        <p:txBody>
          <a:bodyPr/>
          <a:lstStyle/>
          <a:p>
            <a:r>
              <a:rPr lang="en-US" dirty="0" smtClean="0"/>
              <a:t>Closed Loop Steering Synthesis</a:t>
            </a:r>
            <a:endParaRPr lang="en-US" dirty="0"/>
          </a:p>
        </p:txBody>
      </p:sp>
      <p:sp>
        <p:nvSpPr>
          <p:cNvPr id="5" name="Shape 103"/>
          <p:cNvSpPr txBox="1">
            <a:spLocks noGrp="1"/>
          </p:cNvSpPr>
          <p:nvPr>
            <p:ph type="body" idx="4294967295"/>
          </p:nvPr>
        </p:nvSpPr>
        <p:spPr>
          <a:xfrm>
            <a:off x="338138" y="1308100"/>
            <a:ext cx="8572649" cy="5486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rmAutofit lnSpcReduction="10000"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</a:p>
          <a:p>
            <a:pPr marL="5715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the driver’s steering torque to follow the reference torque, which is generated based on various vehicle and EPS signals for premium steering feel.  </a:t>
            </a:r>
          </a:p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</a:p>
          <a:p>
            <a:pPr marL="5715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Tuning Simplification</a:t>
            </a:r>
          </a:p>
          <a:p>
            <a:pPr marL="974725" marR="0" lvl="2" indent="-238125" algn="l" rtl="0">
              <a:spcBef>
                <a:spcPts val="24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➢"/>
            </a:pPr>
            <a:r>
              <a:rPr lang="en-US" sz="12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Decoupled tuning parameters</a:t>
            </a:r>
          </a:p>
          <a:p>
            <a:pPr marL="974725" marR="0" lvl="2" indent="-238125" algn="l" rtl="0">
              <a:spcBef>
                <a:spcPts val="24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➢"/>
            </a:pPr>
            <a:r>
              <a:rPr lang="en-US" sz="12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Reduced number of calibration and tuning time</a:t>
            </a:r>
          </a:p>
          <a:p>
            <a:pPr marL="5715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Intuitive and direct tuning parametric interface</a:t>
            </a:r>
          </a:p>
          <a:p>
            <a:pPr marL="974725" marR="0" lvl="2" indent="-238125" algn="l" rtl="0">
              <a:spcBef>
                <a:spcPts val="24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➢"/>
            </a:pPr>
            <a:r>
              <a:rPr lang="en-US" sz="12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Tune steering feel directly instead of iterative approach</a:t>
            </a:r>
          </a:p>
          <a:p>
            <a:pPr marL="5715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Tuning consistency</a:t>
            </a:r>
          </a:p>
          <a:p>
            <a:pPr marL="974725" marR="0" lvl="2" indent="-238125" algn="l" rtl="0">
              <a:spcBef>
                <a:spcPts val="24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➢"/>
            </a:pPr>
            <a:r>
              <a:rPr lang="en-US" sz="12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Tune across platforms with simple calibration changes</a:t>
            </a:r>
          </a:p>
          <a:p>
            <a:pPr marL="231775" marR="0" lvl="0" indent="-231775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571500" marR="0" lvl="1" indent="-228600" algn="l" rtl="0">
              <a:spcBef>
                <a:spcPts val="336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the best methodology of steering synthesis and closed loop control for steering feel</a:t>
            </a:r>
          </a:p>
          <a:p>
            <a:pPr marL="571500" marR="0" lvl="1" indent="-228600" algn="l" rtl="0">
              <a:spcBef>
                <a:spcPts val="336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 EPS software </a:t>
            </a:r>
          </a:p>
          <a:p>
            <a:pPr marL="231775" marR="0" lvl="0" indent="-231775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571500" marR="0" lvl="1" indent="-228600" algn="l" rtl="0">
              <a:spcBef>
                <a:spcPts val="336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Angle-based Steering Synthesis in-vehicle evaluation: 01/14 (complete)</a:t>
            </a:r>
          </a:p>
          <a:p>
            <a:pPr marL="571500" marR="0" lvl="1" indent="-228600" algn="l" rtl="0">
              <a:spcBef>
                <a:spcPts val="336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Steering Synthesis based on rack load (measured &amp; estimated) in-vehicle evaluation: Q1/14</a:t>
            </a:r>
          </a:p>
          <a:p>
            <a:pPr marL="571500" marR="0" lvl="1" indent="-228600" algn="l" rtl="0">
              <a:spcBef>
                <a:spcPts val="336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Demo (Daimler): Q3/14</a:t>
            </a:r>
          </a:p>
          <a:p>
            <a:pPr marL="571500" marR="0" lvl="1" indent="-228600" algn="l" rtl="0">
              <a:spcBef>
                <a:spcPts val="336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Comprehensive in-vehicle evaluation and winter test: Q4/14</a:t>
            </a:r>
          </a:p>
          <a:p>
            <a:pPr marL="231775" marR="0" lvl="0" indent="-231775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18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571500" marR="0" lvl="1" indent="-228600" algn="l" rtl="0">
              <a:spcBef>
                <a:spcPts val="336"/>
              </a:spcBef>
              <a:spcAft>
                <a:spcPts val="0"/>
              </a:spcAft>
              <a:buClr>
                <a:srgbClr val="E31937"/>
              </a:buClr>
              <a:buSzPct val="95454"/>
              <a:buFont typeface="Arial"/>
              <a:buChar char="−"/>
            </a:pPr>
            <a:r>
              <a:rPr lang="en-US" sz="11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Tao Yang, Farhad Bolourchi, Abdullah Husain, Tejas Varunjikar, Michael Hales, Steve Klein, Mariam George, </a:t>
            </a:r>
            <a:r>
              <a:rPr lang="en-US" sz="1100" b="0" i="0" u="none" strike="noStrike" cap="none" baseline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Shrenik</a:t>
            </a:r>
            <a:r>
              <a:rPr lang="en-US" sz="11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Shah, Jens Dittmer / Mark H, Ashok C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</a:p>
        </p:txBody>
      </p:sp>
      <p:grpSp>
        <p:nvGrpSpPr>
          <p:cNvPr id="6" name="Shape 104"/>
          <p:cNvGrpSpPr/>
          <p:nvPr/>
        </p:nvGrpSpPr>
        <p:grpSpPr>
          <a:xfrm>
            <a:off x="5334314" y="2055797"/>
            <a:ext cx="3650442" cy="1777884"/>
            <a:chOff x="77203" y="1063625"/>
            <a:chExt cx="8914396" cy="4341600"/>
          </a:xfrm>
        </p:grpSpPr>
        <p:pic>
          <p:nvPicPr>
            <p:cNvPr id="7" name="Shape 10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240003" y="1861458"/>
              <a:ext cx="1676399" cy="1676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Shape 106"/>
            <p:cNvSpPr/>
            <p:nvPr/>
          </p:nvSpPr>
          <p:spPr>
            <a:xfrm>
              <a:off x="2668003" y="2286000"/>
              <a:ext cx="1219199" cy="838199"/>
            </a:xfrm>
            <a:prstGeom prst="rect">
              <a:avLst/>
            </a:prstGeom>
            <a:noFill/>
            <a:ln w="9525" cap="flat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500" b="0" i="0" u="none" strike="noStrike" cap="none" baseline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Torque Feedback Controller</a:t>
              </a:r>
            </a:p>
          </p:txBody>
        </p:sp>
        <p:sp>
          <p:nvSpPr>
            <p:cNvPr id="9" name="Shape 107"/>
            <p:cNvSpPr/>
            <p:nvPr/>
          </p:nvSpPr>
          <p:spPr>
            <a:xfrm>
              <a:off x="1982203" y="2514600"/>
              <a:ext cx="381000" cy="381000"/>
            </a:xfrm>
            <a:prstGeom prst="ellipse">
              <a:avLst/>
            </a:prstGeom>
            <a:noFill/>
            <a:ln w="9525" cap="flat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rmAutofit fontScale="25000" lnSpcReduction="20000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Shape 108"/>
            <p:cNvSpPr/>
            <p:nvPr/>
          </p:nvSpPr>
          <p:spPr>
            <a:xfrm>
              <a:off x="5563603" y="2286000"/>
              <a:ext cx="1066799" cy="838199"/>
            </a:xfrm>
            <a:prstGeom prst="rect">
              <a:avLst/>
            </a:prstGeom>
            <a:noFill/>
            <a:ln w="9525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500" b="0" i="0" u="none" strike="noStrike" cap="none" baseline="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Current Controller</a:t>
              </a:r>
            </a:p>
          </p:txBody>
        </p:sp>
        <p:cxnSp>
          <p:nvCxnSpPr>
            <p:cNvPr id="11" name="Shape 109"/>
            <p:cNvCxnSpPr/>
            <p:nvPr/>
          </p:nvCxnSpPr>
          <p:spPr>
            <a:xfrm rot="10800000" flipH="1">
              <a:off x="6630403" y="2699658"/>
              <a:ext cx="609599" cy="5441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sp>
          <p:nvSpPr>
            <p:cNvPr id="12" name="Shape 110"/>
            <p:cNvSpPr/>
            <p:nvPr/>
          </p:nvSpPr>
          <p:spPr>
            <a:xfrm>
              <a:off x="4877803" y="2514600"/>
              <a:ext cx="381000" cy="381000"/>
            </a:xfrm>
            <a:prstGeom prst="ellipse">
              <a:avLst/>
            </a:prstGeom>
            <a:noFill/>
            <a:ln w="9525" cap="flat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rmAutofit fontScale="25000" lnSpcReduction="20000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" name="Shape 111"/>
            <p:cNvCxnSpPr/>
            <p:nvPr/>
          </p:nvCxnSpPr>
          <p:spPr>
            <a:xfrm>
              <a:off x="5258803" y="2705100"/>
              <a:ext cx="304799" cy="1587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14" name="Shape 112"/>
            <p:cNvCxnSpPr/>
            <p:nvPr/>
          </p:nvCxnSpPr>
          <p:spPr>
            <a:xfrm>
              <a:off x="3887203" y="2705100"/>
              <a:ext cx="990599" cy="1587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sp>
          <p:nvSpPr>
            <p:cNvPr id="15" name="Shape 113"/>
            <p:cNvSpPr/>
            <p:nvPr/>
          </p:nvSpPr>
          <p:spPr>
            <a:xfrm>
              <a:off x="77203" y="2286000"/>
              <a:ext cx="1294395" cy="838199"/>
            </a:xfrm>
            <a:prstGeom prst="rect">
              <a:avLst/>
            </a:prstGeom>
            <a:noFill/>
            <a:ln w="9525" cap="flat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500" b="0" i="0" u="none" strike="noStrike" cap="none" baseline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Steering Feel Configurator</a:t>
              </a:r>
            </a:p>
          </p:txBody>
        </p:sp>
        <p:cxnSp>
          <p:nvCxnSpPr>
            <p:cNvPr id="16" name="Shape 114"/>
            <p:cNvCxnSpPr/>
            <p:nvPr/>
          </p:nvCxnSpPr>
          <p:spPr>
            <a:xfrm rot="10800000">
              <a:off x="5068303" y="2895600"/>
              <a:ext cx="2552699" cy="685799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17" name="Shape 115"/>
            <p:cNvCxnSpPr/>
            <p:nvPr/>
          </p:nvCxnSpPr>
          <p:spPr>
            <a:xfrm flipH="1">
              <a:off x="2172703" y="1524000"/>
              <a:ext cx="5829299" cy="990599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18" name="Shape 116"/>
            <p:cNvCxnSpPr/>
            <p:nvPr/>
          </p:nvCxnSpPr>
          <p:spPr>
            <a:xfrm>
              <a:off x="2363203" y="2705100"/>
              <a:ext cx="304799" cy="1587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19" name="Shape 117"/>
            <p:cNvCxnSpPr/>
            <p:nvPr/>
          </p:nvCxnSpPr>
          <p:spPr>
            <a:xfrm>
              <a:off x="1371600" y="2705100"/>
              <a:ext cx="610603" cy="1587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20" name="Shape 118"/>
            <p:cNvCxnSpPr/>
            <p:nvPr/>
          </p:nvCxnSpPr>
          <p:spPr>
            <a:xfrm rot="-5400000">
              <a:off x="7667120" y="3840876"/>
              <a:ext cx="365759" cy="793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21" name="Shape 119"/>
            <p:cNvCxnSpPr/>
            <p:nvPr/>
          </p:nvCxnSpPr>
          <p:spPr>
            <a:xfrm rot="5400000">
              <a:off x="8048120" y="3840877"/>
              <a:ext cx="365759" cy="793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sp>
          <p:nvSpPr>
            <p:cNvPr id="22" name="Shape 120"/>
            <p:cNvSpPr/>
            <p:nvPr/>
          </p:nvSpPr>
          <p:spPr>
            <a:xfrm>
              <a:off x="4268203" y="2057400"/>
              <a:ext cx="2590800" cy="1752600"/>
            </a:xfrm>
            <a:prstGeom prst="rect">
              <a:avLst/>
            </a:prstGeom>
            <a:noFill/>
            <a:ln w="9525" cap="flat">
              <a:solidFill>
                <a:srgbClr val="89A4A6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" name="Shape 121"/>
            <p:cNvCxnSpPr/>
            <p:nvPr/>
          </p:nvCxnSpPr>
          <p:spPr>
            <a:xfrm rot="10800000">
              <a:off x="724401" y="3124199"/>
              <a:ext cx="6210802" cy="1447800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cxnSp>
          <p:nvCxnSpPr>
            <p:cNvPr id="24" name="Shape 122"/>
            <p:cNvCxnSpPr/>
            <p:nvPr/>
          </p:nvCxnSpPr>
          <p:spPr>
            <a:xfrm rot="-5400000">
              <a:off x="7925804" y="1523999"/>
              <a:ext cx="914400" cy="1587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5" name="Shape 1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39803" y="3200400"/>
              <a:ext cx="639762" cy="384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Shape 1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3003" y="1079500"/>
              <a:ext cx="485775" cy="35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Shape 12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20737" y="1063625"/>
              <a:ext cx="2379662" cy="384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Shape 12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53603" y="2743200"/>
              <a:ext cx="255588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Shape 12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06003" y="2309811"/>
              <a:ext cx="230188" cy="128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Shape 12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22216" y="2409825"/>
              <a:ext cx="255588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Shape 12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00016" y="2971800"/>
              <a:ext cx="230188" cy="1285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" name="Shape 130"/>
            <p:cNvCxnSpPr/>
            <p:nvPr/>
          </p:nvCxnSpPr>
          <p:spPr>
            <a:xfrm rot="-5400000">
              <a:off x="7774197" y="1751805"/>
              <a:ext cx="457200" cy="1587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33" name="Shape 13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371600" y="2336800"/>
              <a:ext cx="485775" cy="409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Shape 13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894013" y="4699000"/>
              <a:ext cx="1049337" cy="409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Shape 13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934200" y="4038600"/>
              <a:ext cx="2057400" cy="13666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" name="Shape 134"/>
            <p:cNvCxnSpPr/>
            <p:nvPr/>
          </p:nvCxnSpPr>
          <p:spPr>
            <a:xfrm rot="10800000">
              <a:off x="724401" y="1066799"/>
              <a:ext cx="7657809" cy="795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Shape 135"/>
            <p:cNvCxnSpPr/>
            <p:nvPr/>
          </p:nvCxnSpPr>
          <p:spPr>
            <a:xfrm>
              <a:off x="724400" y="1067594"/>
              <a:ext cx="0" cy="1218405"/>
            </a:xfrm>
            <a:prstGeom prst="straightConnector1">
              <a:avLst/>
            </a:prstGeom>
            <a:noFill/>
            <a:ln w="25400" cap="flat">
              <a:solidFill>
                <a:schemeClr val="dk1"/>
              </a:solidFill>
              <a:prstDash val="solid"/>
              <a:round/>
              <a:headEnd type="none" w="med" len="med"/>
              <a:tailEnd type="stealth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4022293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4 Internal Template_Final">
  <a:themeElements>
    <a:clrScheme name="Nexteer PP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exteer PP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exteer PP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teer PP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teer PP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teer PP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teer PP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teer PP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xteer PP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xteer PP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xteer PP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xteer PP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xteer PP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xteer PP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13950</TotalTime>
  <Words>1848</Words>
  <Application>Microsoft Office PowerPoint</Application>
  <PresentationFormat>On-screen Show (4:3)</PresentationFormat>
  <Paragraphs>430</Paragraphs>
  <Slides>25</Slides>
  <Notes>17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2014 Internal Template_Final</vt:lpstr>
      <vt:lpstr>Macro-Enabled Worksheet</vt:lpstr>
      <vt:lpstr>Value Managed Technology</vt:lpstr>
      <vt:lpstr>Value-Managed Technology</vt:lpstr>
      <vt:lpstr>2014 Engineering Goals </vt:lpstr>
      <vt:lpstr>Technology Roadmap</vt:lpstr>
      <vt:lpstr>Value Attributes</vt:lpstr>
      <vt:lpstr>Tech Plan - Second Quarter Status</vt:lpstr>
      <vt:lpstr>Examples of Value Managed Projects One Pagers</vt:lpstr>
      <vt:lpstr>Loss of Assist - Project Value Assessment 32% Value Improvement (score 13)</vt:lpstr>
      <vt:lpstr>Loss of Assist  Roadmap</vt:lpstr>
      <vt:lpstr>Dual Wound Motor &amp; Dual Inverter</vt:lpstr>
      <vt:lpstr>ECU minimization and MPP</vt:lpstr>
      <vt:lpstr>PP-127: Optimize CCA Packaging</vt:lpstr>
      <vt:lpstr>PP-127: Optimize CCA Packaging</vt:lpstr>
      <vt:lpstr>IBK/GM Golden Brick/Competitor Benchmark</vt:lpstr>
      <vt:lpstr>PP-144: Absolute Handwheel Position Digital Sensor (Dual Spur Gear - SENT) </vt:lpstr>
      <vt:lpstr>PP-41: MTO Dual Pressure Sensor</vt:lpstr>
      <vt:lpstr>PP-69: Compliant Pins (MTO)</vt:lpstr>
      <vt:lpstr>PP-123: Optimized High Output Motor Design (Rotor Diameter?)</vt:lpstr>
      <vt:lpstr>PP-124: Cost Optimized Motor Design (IPM/skew/pole shape/WIH)</vt:lpstr>
      <vt:lpstr>PP-126: Heat Management for Motor</vt:lpstr>
      <vt:lpstr>CEPS Low Cost Low Output</vt:lpstr>
      <vt:lpstr>CEPS Low Cost Low Output</vt:lpstr>
      <vt:lpstr>PM Synchronous Reluctance Motor and Control</vt:lpstr>
      <vt:lpstr>Low Cost Small Diameter Torque Sensor</vt:lpstr>
      <vt:lpstr>Closed Loop Steering Synthesis</vt:lpstr>
    </vt:vector>
  </TitlesOfParts>
  <Company>Nexteer Automotive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Vincent, Allison</dc:creator>
  <cp:lastModifiedBy>Sizelove, Bradley</cp:lastModifiedBy>
  <cp:revision>467</cp:revision>
  <cp:lastPrinted>2014-09-17T15:44:43Z</cp:lastPrinted>
  <dcterms:created xsi:type="dcterms:W3CDTF">2014-01-09T14:32:49Z</dcterms:created>
  <dcterms:modified xsi:type="dcterms:W3CDTF">2014-09-19T13:22:38Z</dcterms:modified>
</cp:coreProperties>
</file>